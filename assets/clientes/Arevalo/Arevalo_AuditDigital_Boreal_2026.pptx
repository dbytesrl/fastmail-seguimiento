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69"/>
  </p:normalViewPr>
  <p:slideViewPr>
    <p:cSldViewPr snapToGrid="0" snapToObjects="1">
      <p:cViewPr>
        <p:scale>
          <a:sx n="111" d="100"/>
          <a:sy n="111" d="100"/>
        </p:scale>
        <p:origin x="656" y="4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E8617F-151D-634C-8EBB-B71E744D0E9F}" type="datetimeFigureOut">
              <a:rPr lang="es-AR" smtClean="0"/>
              <a:t>17/3/26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F3915E-18FB-2F45-AF59-E771B2A1E69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87102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F3915E-18FB-2F45-AF59-E771B2A1E696}" type="slidenum">
              <a:rPr lang="es-AR" smtClean="0"/>
              <a:t>13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02118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159752" y="0"/>
            <a:ext cx="5029200" cy="3566160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074152" y="3566160"/>
            <a:ext cx="4114800" cy="3291840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628632" y="1645920"/>
            <a:ext cx="2560320" cy="2560320"/>
          </a:xfrm>
          <a:prstGeom prst="rect">
            <a:avLst/>
          </a:prstGeom>
          <a:solidFill>
            <a:srgbClr val="22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34747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BDFF"/>
                </a:solidFill>
                <a:latin typeface="Montserrat"/>
              </a:rPr>
              <a:t>BOREAL MARKETING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768096"/>
            <a:ext cx="2286000" cy="31750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1">
                <a:solidFill>
                  <a:srgbClr val="FFFFFF"/>
                </a:solidFill>
                <a:latin typeface="Montserrat"/>
              </a:rPr>
              <a:t>Auditoría Digital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Montserrat"/>
              </a:rPr>
              <a:t>Arevalo Tucumán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74980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  <a:latin typeface="Montserrat"/>
              </a:rPr>
              <a:t>Análisis de diseño · Estructura · Contenido
Bases para rediseño y campañas de Ads + Redes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520440"/>
            <a:ext cx="6400800" cy="25400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361188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Montserrat"/>
              </a:rPr>
              <a:t>Preparado por Boreal Marketing · Marzo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050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2BDFF"/>
                </a:solidFill>
                <a:latin typeface="Montserrat"/>
              </a:rPr>
              <a:t>arevalotucuman.ar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4320" y="6547104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Montserrat"/>
              </a:rPr>
              <a:t>Confidencial · Boreal Marketing × Arevalo Tucumán · Auditoría Digital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60152" y="65471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2BDFF"/>
                </a:solidFill>
                <a:latin typeface="Montserrat"/>
              </a:rPr>
              <a:t>boreal.com.ar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6579F60-EBE9-848A-79E4-4934B28996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335" y="1463040"/>
            <a:ext cx="5791973" cy="3258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ontserrat"/>
              </a:rPr>
              <a:t>RESUMEN EJECUTIVO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2BDFF"/>
                </a:solidFill>
                <a:latin typeface="Montserrat"/>
              </a:rPr>
              <a:t>Lo que encontramos en una mirada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78992"/>
            <a:ext cx="11457432" cy="804672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152144"/>
            <a:ext cx="110916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1">
                <a:solidFill>
                  <a:srgbClr val="12BDFF"/>
                </a:solidFill>
                <a:latin typeface="Montserrat"/>
              </a:rPr>
              <a:t>Arevalo tiene los activos correctos para dominar el mercado de salud prepaga en Tucumán. El problema no es el servicio — es cómo está comunicado y organizado digitalmente.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29968"/>
            <a:ext cx="3657600" cy="384048"/>
          </a:xfrm>
          <a:prstGeom prst="rect">
            <a:avLst/>
          </a:prstGeom>
          <a:solidFill>
            <a:srgbClr val="00B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2066543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LO QUE FUNCIONA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68880"/>
            <a:ext cx="3657600" cy="5303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2468880"/>
            <a:ext cx="54864" cy="530352"/>
          </a:xfrm>
          <a:prstGeom prst="rect">
            <a:avLst/>
          </a:prstGeom>
          <a:solidFill>
            <a:srgbClr val="00B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551176"/>
            <a:ext cx="3401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Montserrat"/>
              </a:rPr>
              <a:t>5 sucursales en toda la provincia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35808"/>
            <a:ext cx="36576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" y="3035808"/>
            <a:ext cx="54864" cy="530352"/>
          </a:xfrm>
          <a:prstGeom prst="rect">
            <a:avLst/>
          </a:prstGeom>
          <a:solidFill>
            <a:srgbClr val="00B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118104"/>
            <a:ext cx="3401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Montserrat"/>
              </a:rPr>
              <a:t>24 especialidades médicas disponibles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602736"/>
            <a:ext cx="3657600" cy="5303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5760" y="3602736"/>
            <a:ext cx="54864" cy="530352"/>
          </a:xfrm>
          <a:prstGeom prst="rect">
            <a:avLst/>
          </a:prstGeom>
          <a:solidFill>
            <a:srgbClr val="00B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3685032"/>
            <a:ext cx="3401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Montserrat"/>
              </a:rPr>
              <a:t>Meta Pixel instalado y activo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169664"/>
            <a:ext cx="36576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4169664"/>
            <a:ext cx="54864" cy="530352"/>
          </a:xfrm>
          <a:prstGeom prst="rect">
            <a:avLst/>
          </a:prstGeom>
          <a:solidFill>
            <a:srgbClr val="00B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4251960"/>
            <a:ext cx="3401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Montserrat"/>
              </a:rPr>
              <a:t>App propia en Google Play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736592"/>
            <a:ext cx="3657600" cy="5303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4736592"/>
            <a:ext cx="54864" cy="530352"/>
          </a:xfrm>
          <a:prstGeom prst="rect">
            <a:avLst/>
          </a:prstGeom>
          <a:solidFill>
            <a:srgbClr val="00B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4818888"/>
            <a:ext cx="3401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Montserrat"/>
              </a:rPr>
              <a:t>WhatsApp flotante con 2 canales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303520"/>
            <a:ext cx="36576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5760" y="5303520"/>
            <a:ext cx="54864" cy="530352"/>
          </a:xfrm>
          <a:prstGeom prst="rect">
            <a:avLst/>
          </a:prstGeom>
          <a:solidFill>
            <a:srgbClr val="00B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5385816"/>
            <a:ext cx="3401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Montserrat"/>
              </a:rPr>
              <a:t>25+ años de trayectoria real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51960" y="2029968"/>
            <a:ext cx="3657600" cy="384048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61688" y="2066543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LO QUE HAY QUE ACTIVAR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1960" y="2468880"/>
            <a:ext cx="3657600" cy="5303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251960" y="2468880"/>
            <a:ext cx="54864" cy="530352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89120" y="2551176"/>
            <a:ext cx="3401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Montserrat"/>
              </a:rPr>
              <a:t>GA4 instalado pero apagado (1 cambio lo activa)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51960" y="3035808"/>
            <a:ext cx="36576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251960" y="3035808"/>
            <a:ext cx="54864" cy="530352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89120" y="3118104"/>
            <a:ext cx="3401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Montserrat"/>
              </a:rPr>
              <a:t>Dos audiencias mezcladas sin separación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51960" y="3602736"/>
            <a:ext cx="3657600" cy="5303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251960" y="3602736"/>
            <a:ext cx="54864" cy="530352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389120" y="3685032"/>
            <a:ext cx="3401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Montserrat"/>
              </a:rPr>
              <a:t>Hero con carrusel: el mayor destructor de CVR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51960" y="4169664"/>
            <a:ext cx="36576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251960" y="4169664"/>
            <a:ext cx="54864" cy="530352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389120" y="4251960"/>
            <a:ext cx="3401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Montserrat"/>
              </a:rPr>
              <a:t>Sin precios visibles en seguros ni planes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51960" y="4736592"/>
            <a:ext cx="3657600" cy="5303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251960" y="4736592"/>
            <a:ext cx="54864" cy="530352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389120" y="4818888"/>
            <a:ext cx="3401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Montserrat"/>
              </a:rPr>
              <a:t>6 números de teléfono distintos en el sitio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51960" y="5303520"/>
            <a:ext cx="36576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251960" y="5303520"/>
            <a:ext cx="54864" cy="530352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389120" y="5385816"/>
            <a:ext cx="3401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Montserrat"/>
              </a:rPr>
              <a:t>Sin testimonios de afiliados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38160" y="2029968"/>
            <a:ext cx="3657600" cy="384048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247888" y="2066543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LA OPORTUNIDAD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38160" y="2468880"/>
            <a:ext cx="3657600" cy="5303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8138160" y="2468880"/>
            <a:ext cx="54864" cy="530352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275320" y="2551176"/>
            <a:ext cx="3401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Montserrat"/>
              </a:rPr>
              <a:t>Competencia digital mínima en el rubro en Tucumán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38160" y="3035808"/>
            <a:ext cx="36576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8138160" y="3035808"/>
            <a:ext cx="54864" cy="530352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275320" y="3118104"/>
            <a:ext cx="3401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Montserrat"/>
              </a:rPr>
              <a:t>Búsquedas activas sin capturar en Google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138160" y="3602736"/>
            <a:ext cx="3657600" cy="5303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8138160" y="3602736"/>
            <a:ext cx="54864" cy="530352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275320" y="3685032"/>
            <a:ext cx="3401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Montserrat"/>
              </a:rPr>
              <a:t>Audiencias de retargeting disponibles (pixel activo)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38160" y="4169664"/>
            <a:ext cx="36576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138160" y="4169664"/>
            <a:ext cx="54864" cy="530352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275320" y="4251960"/>
            <a:ext cx="3401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Montserrat"/>
              </a:rPr>
              <a:t>Interior de provincia sin presencia digital real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138160" y="4736592"/>
            <a:ext cx="3657600" cy="5303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8138160" y="4736592"/>
            <a:ext cx="54864" cy="530352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275320" y="4818888"/>
            <a:ext cx="3401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Montserrat"/>
              </a:rPr>
              <a:t>SEO local con potencial inmediato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138160" y="5303520"/>
            <a:ext cx="36576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8138160" y="5303520"/>
            <a:ext cx="54864" cy="530352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275320" y="5385816"/>
            <a:ext cx="3401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Montserrat"/>
              </a:rPr>
              <a:t>Content health con alto alcance orgánico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74320" y="6547104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Montserrat"/>
              </a:rPr>
              <a:t>Confidencial · Boreal Marketing × Arevalo Tucumán · Auditoría Digital 2026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360152" y="65471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2BDFF"/>
                </a:solidFill>
                <a:latin typeface="Montserrat"/>
              </a:rPr>
              <a:t>boreal.com.ar</a:t>
            </a:r>
          </a:p>
        </p:txBody>
      </p:sp>
      <p:pic>
        <p:nvPicPr>
          <p:cNvPr id="71" name="Picture 2">
            <a:extLst>
              <a:ext uri="{FF2B5EF4-FFF2-40B4-BE49-F238E27FC236}">
                <a16:creationId xmlns:a16="http://schemas.microsoft.com/office/drawing/2014/main" id="{070E405F-30F6-FC1D-D853-17CFE8803D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6591" y="-111952"/>
            <a:ext cx="2230961" cy="1254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ontserrat"/>
              </a:rPr>
              <a:t>DIAGNÓSTICO TÉCNICO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2BDFF"/>
                </a:solidFill>
                <a:latin typeface="Montserrat"/>
              </a:rPr>
              <a:t>Estado del stack tecnológico y herramientas de medición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2752344" cy="384048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06984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</a:rPr>
              <a:t>COMPONENTE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051560"/>
            <a:ext cx="3300984" cy="384048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91840" y="1069848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</a:rPr>
              <a:t>ESTADO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051560"/>
            <a:ext cx="2660904" cy="384048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106984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</a:rPr>
              <a:t>DETALLE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0" y="1051560"/>
            <a:ext cx="2569464" cy="384048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418320" y="106984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</a:rPr>
              <a:t>ACCIÓN REQUERIDA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499616"/>
            <a:ext cx="2752344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1554480"/>
            <a:ext cx="2606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CMS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499616"/>
            <a:ext cx="3300984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91840" y="1554480"/>
            <a:ext cx="3154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060"/>
                </a:solidFill>
                <a:latin typeface="Montserrat"/>
              </a:rPr>
              <a:t>✅ WordPress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1499616"/>
            <a:ext cx="2660904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75120" y="1554480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Actualizable, manejable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26880" y="1499616"/>
            <a:ext cx="2569464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18320" y="1554480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Mantener actualizado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1938528"/>
            <a:ext cx="275234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1993392"/>
            <a:ext cx="2606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Google Analytics UA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1938528"/>
            <a:ext cx="330098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91840" y="1993392"/>
            <a:ext cx="3154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8800"/>
                </a:solidFill>
                <a:latin typeface="Montserrat"/>
              </a:rPr>
              <a:t>⚠️ Deprecated jul/2023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1938528"/>
            <a:ext cx="266090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75120" y="1993392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Universal Analytics ya no recolecta datos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1938528"/>
            <a:ext cx="256946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418320" y="1993392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Reemplazar por GA4 ya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2377440"/>
            <a:ext cx="2752344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2432304"/>
            <a:ext cx="2606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Google Analytics 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0" y="2377440"/>
            <a:ext cx="3300984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291840" y="2432304"/>
            <a:ext cx="3154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8800"/>
                </a:solidFill>
                <a:latin typeface="Montserrat"/>
              </a:rPr>
              <a:t>⚠️ Instalado — APAGADO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2377440"/>
            <a:ext cx="2660904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75120" y="2432304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Script presente, enabledGoogle: OFF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26880" y="2377440"/>
            <a:ext cx="2569464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418320" y="2432304"/>
            <a:ext cx="24231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CC2222"/>
                </a:solidFill>
                <a:latin typeface="Montserrat"/>
              </a:rPr>
              <a:t>🔴 </a:t>
            </a:r>
            <a:r>
              <a:rPr sz="1000" b="1" i="0" dirty="0" err="1">
                <a:solidFill>
                  <a:srgbClr val="CC2222"/>
                </a:solidFill>
                <a:latin typeface="Montserrat"/>
              </a:rPr>
              <a:t>Activar</a:t>
            </a:r>
            <a:endParaRPr sz="1000" b="1" i="0" dirty="0">
              <a:solidFill>
                <a:srgbClr val="CC2222"/>
              </a:solidFill>
              <a:latin typeface="Montserrat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65760" y="2816352"/>
            <a:ext cx="275234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" y="2871216"/>
            <a:ext cx="2606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Meta Pixel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2816352"/>
            <a:ext cx="330098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291840" y="2871216"/>
            <a:ext cx="3154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060"/>
                </a:solidFill>
                <a:latin typeface="Montserrat"/>
              </a:rPr>
              <a:t>✅ Activo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0" y="2816352"/>
            <a:ext cx="266090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675120" y="2871216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Audiencias acumulándose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26880" y="2816352"/>
            <a:ext cx="256946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418320" y="2871216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Configurar eventos: Lead, Contact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3255264"/>
            <a:ext cx="2752344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57200" y="3310128"/>
            <a:ext cx="2606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Google Tag Manager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0" y="3255264"/>
            <a:ext cx="3300984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291840" y="3310128"/>
            <a:ext cx="3154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2222"/>
                </a:solidFill>
                <a:latin typeface="Montserrat"/>
              </a:rPr>
              <a:t>❌ No detectado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0" y="3255264"/>
            <a:ext cx="2660904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675120" y="3310128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Sin capa de gestión de tags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326880" y="3255264"/>
            <a:ext cx="2569464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418320" y="3310128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Implementar — centraliza todo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694176"/>
            <a:ext cx="275234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57200" y="3749040"/>
            <a:ext cx="2606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Conversiones Goog.Ads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0" y="3694176"/>
            <a:ext cx="330098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291840" y="3749040"/>
            <a:ext cx="3154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2222"/>
                </a:solidFill>
                <a:latin typeface="Montserrat"/>
              </a:rPr>
              <a:t>❌ No configurado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83680" y="3694176"/>
            <a:ext cx="266090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675120" y="3749040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Campañas sin datos de conversión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326880" y="3694176"/>
            <a:ext cx="256946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418320" y="3749040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Implementar vía GTM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4133088"/>
            <a:ext cx="2752344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57200" y="4187952"/>
            <a:ext cx="2606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HTTPS / SSL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0" y="4133088"/>
            <a:ext cx="3300984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291840" y="4187952"/>
            <a:ext cx="3154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060"/>
                </a:solidFill>
                <a:latin typeface="Montserrat"/>
              </a:rPr>
              <a:t>✅ Trust Provider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583680" y="4133088"/>
            <a:ext cx="2660904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675120" y="4187952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Certificado activo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326880" y="4133088"/>
            <a:ext cx="2569464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418320" y="4187952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OK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5760" y="4572000"/>
            <a:ext cx="275234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57200" y="4626864"/>
            <a:ext cx="2606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URL con typo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200400" y="4572000"/>
            <a:ext cx="330098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3291840" y="4626864"/>
            <a:ext cx="3154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2222"/>
                </a:solidFill>
                <a:latin typeface="Montserrat"/>
              </a:rPr>
              <a:t>❌ /comlementos/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583680" y="4572000"/>
            <a:ext cx="266090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675120" y="4626864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URL rota en menú de navegación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326880" y="4572000"/>
            <a:ext cx="256946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418320" y="46268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Corregir a /complementos/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65760" y="5010912"/>
            <a:ext cx="2752344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457200" y="5065776"/>
            <a:ext cx="2606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Twitter widget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00400" y="5010912"/>
            <a:ext cx="3300984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3291840" y="5065776"/>
            <a:ext cx="3154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8800"/>
                </a:solidFill>
                <a:latin typeface="Montserrat"/>
              </a:rPr>
              <a:t>⚠️ Script activo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583680" y="5010912"/>
            <a:ext cx="2660904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675120" y="5065776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Carga innecesaria si cuenta inactiva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326880" y="5010912"/>
            <a:ext cx="2569464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418320" y="5065776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Evaluar eliminar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65760" y="5449824"/>
            <a:ext cx="275234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457200" y="5504688"/>
            <a:ext cx="2606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App Google Play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200400" y="5449824"/>
            <a:ext cx="330098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3291840" y="5504688"/>
            <a:ext cx="3154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060"/>
                </a:solidFill>
                <a:latin typeface="Montserrat"/>
              </a:rPr>
              <a:t>✅ Disponible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583680" y="5449824"/>
            <a:ext cx="266090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675120" y="5504688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com.ionicframework.arevalo820026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326880" y="5449824"/>
            <a:ext cx="256946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418320" y="5504688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Promover como diferencial</a:t>
            </a:r>
          </a:p>
        </p:txBody>
      </p:sp>
      <p:sp>
        <p:nvSpPr>
          <p:cNvPr id="97" name="Rectangle 96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274320" y="6547104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Montserrat"/>
              </a:rPr>
              <a:t>Confidencial · Boreal Marketing × Arevalo Tucumán · Auditoría Digital 2026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360152" y="65471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2BDFF"/>
                </a:solidFill>
                <a:latin typeface="Montserrat"/>
              </a:rPr>
              <a:t>boreal.com.ar</a:t>
            </a:r>
          </a:p>
        </p:txBody>
      </p:sp>
      <p:pic>
        <p:nvPicPr>
          <p:cNvPr id="100" name="Picture 2">
            <a:extLst>
              <a:ext uri="{FF2B5EF4-FFF2-40B4-BE49-F238E27FC236}">
                <a16:creationId xmlns:a16="http://schemas.microsoft.com/office/drawing/2014/main" id="{187969F0-F519-F16D-8B23-F428ED2460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6591" y="-111952"/>
            <a:ext cx="2230961" cy="1254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ontserrat"/>
              </a:rPr>
              <a:t>ANÁLISIS DE DISEÑO Y 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2BDFF"/>
                </a:solidFill>
                <a:latin typeface="Montserrat"/>
              </a:rPr>
              <a:t>Lo que el usuario ve, siente y hace — o no hace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78992"/>
            <a:ext cx="5577840" cy="384048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1556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ontserrat"/>
              </a:rPr>
              <a:t>PROBLEMAS DETECTADOS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36192"/>
            <a:ext cx="5577840" cy="8046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536192"/>
            <a:ext cx="73152" cy="804672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159105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Montserrat"/>
              </a:rPr>
              <a:t>Hero carrusel de 6 slides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86537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  <a:latin typeface="Montserrat"/>
              </a:rPr>
              <a:t>Los usuarios no esperan al slide 3. El primer frame define todo y hoy no tiene propuesta de valor clara ni CTA único.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377440"/>
            <a:ext cx="557784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2377440"/>
            <a:ext cx="73152" cy="804672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0352" y="243230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Montserrat"/>
              </a:rPr>
              <a:t>Sin bifurcación de audiencias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70662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  <a:latin typeface="Montserrat"/>
              </a:rPr>
              <a:t>El usuario que quiere afiliarse ve lo mismo que el que quiere sacar un turno. Ninguno encuentra lo que busca rápido.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218688"/>
            <a:ext cx="5577840" cy="8046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5760" y="3218688"/>
            <a:ext cx="73152" cy="804672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0352" y="32735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Montserrat"/>
              </a:rPr>
              <a:t>6 números de teléfono distintos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354787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  <a:latin typeface="Montserrat"/>
              </a:rPr>
              <a:t>0381 485-9000 · 381 543-4242 · 430 7878 · 430 7716 · 551-0686 · 381 208-6164. El usuario no sabe cuál usar.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059936"/>
            <a:ext cx="557784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4059936"/>
            <a:ext cx="73152" cy="804672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0352" y="41148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Montserrat"/>
              </a:rPr>
              <a:t>Competencia de CTAs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43891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  <a:latin typeface="Montserrat"/>
              </a:rPr>
              <a:t>"Reservá tu turno" + "Abona tu cuota" + "Descargá la app" al mismo nivel visual. Sin jerarquía, ninguno convierte bien.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901184"/>
            <a:ext cx="5577840" cy="8046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5760" y="4901184"/>
            <a:ext cx="73152" cy="804672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0352" y="495604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Montserrat"/>
              </a:rPr>
              <a:t>Sin sistema visual unificado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523036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  <a:latin typeface="Montserrat"/>
              </a:rPr>
              <a:t>Tipografías, colores y estilos de cards mezclan distintas generaciones del sitio. Genera desconfianza subconsciente.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1078992"/>
            <a:ext cx="5577840" cy="384048"/>
          </a:xfrm>
          <a:prstGeom prst="rect">
            <a:avLst/>
          </a:prstGeom>
          <a:solidFill>
            <a:srgbClr val="00B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09360" y="111556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ontserrat"/>
              </a:rPr>
              <a:t>OPORTUNIDADES DE DISEÑO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1536192"/>
            <a:ext cx="5577840" cy="8046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17920" y="1536192"/>
            <a:ext cx="73152" cy="804672"/>
          </a:xfrm>
          <a:prstGeom prst="rect">
            <a:avLst/>
          </a:prstGeom>
          <a:solidFill>
            <a:srgbClr val="00B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82512" y="159105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Montserrat"/>
              </a:rPr>
              <a:t>Hero estático con 2 CTAs primarios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186537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  <a:latin typeface="Montserrat"/>
              </a:rPr>
              <a:t>"Quiero afiliarme" y "Ya soy afiliado" — bifurca al usuario en el segundo 1.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2377440"/>
            <a:ext cx="557784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17920" y="2377440"/>
            <a:ext cx="73152" cy="804672"/>
          </a:xfrm>
          <a:prstGeom prst="rect">
            <a:avLst/>
          </a:prstGeom>
          <a:solidFill>
            <a:srgbClr val="00B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82512" y="243230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Montserrat"/>
              </a:rPr>
              <a:t>Tarjeta de emergencia siempre visible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2512" y="270662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  <a:latin typeface="Montserrat"/>
              </a:rPr>
              <a:t>El número de ambulancias debe estar fijo en header o sticky bar. En salud, la urgencia es el momento de mayor confianza.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3218688"/>
            <a:ext cx="5577840" cy="8046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217920" y="3218688"/>
            <a:ext cx="73152" cy="804672"/>
          </a:xfrm>
          <a:prstGeom prst="rect">
            <a:avLst/>
          </a:prstGeom>
          <a:solidFill>
            <a:srgbClr val="00B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82512" y="32735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Montserrat"/>
              </a:rPr>
              <a:t>Sección 'Por qué Arevalo' con datos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354787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  <a:latin typeface="Montserrat"/>
              </a:rPr>
              <a:t>25 años · 24 especialidades · 5 sucursales · App propia. Esos números generan confianza instantánea.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4059936"/>
            <a:ext cx="557784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217920" y="4059936"/>
            <a:ext cx="73152" cy="804672"/>
          </a:xfrm>
          <a:prstGeom prst="rect">
            <a:avLst/>
          </a:prstGeom>
          <a:solidFill>
            <a:srgbClr val="00B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82512" y="41148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Montserrat"/>
              </a:rPr>
              <a:t>Testimonios de afiliados reales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82512" y="43891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  <a:latin typeface="Montserrat"/>
              </a:rPr>
              <a:t>En salud, el boca a boca digital es el driver #1. Una sección con 6-8 historias reales cambia el CVR.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4901184"/>
            <a:ext cx="5577840" cy="8046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217920" y="4901184"/>
            <a:ext cx="73152" cy="804672"/>
          </a:xfrm>
          <a:prstGeom prst="rect">
            <a:avLst/>
          </a:prstGeom>
          <a:solidFill>
            <a:srgbClr val="00B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382512" y="495604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Montserrat"/>
              </a:rPr>
              <a:t>Menú simplificado mobile-first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82512" y="523036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  <a:latin typeface="Montserrat"/>
              </a:rPr>
              <a:t>Máximo 4 ítems en navegación principal. Todo lo demás, en sub-menús o en la home según audiencia.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74320" y="6547104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Montserrat"/>
              </a:rPr>
              <a:t>Confidencial · Boreal Marketing × Arevalo Tucumán · Auditoría Digital 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60152" y="65471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2BDFF"/>
                </a:solidFill>
                <a:latin typeface="Montserrat"/>
              </a:rPr>
              <a:t>boreal.com.ar</a:t>
            </a:r>
          </a:p>
        </p:txBody>
      </p:sp>
      <p:pic>
        <p:nvPicPr>
          <p:cNvPr id="53" name="Picture 2">
            <a:extLst>
              <a:ext uri="{FF2B5EF4-FFF2-40B4-BE49-F238E27FC236}">
                <a16:creationId xmlns:a16="http://schemas.microsoft.com/office/drawing/2014/main" id="{A1F743CB-BD89-2F5E-4950-3EB38DBD4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6591" y="-111952"/>
            <a:ext cx="2230961" cy="1254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BDFF"/>
                </a:solidFill>
                <a:latin typeface="Montserrat"/>
              </a:rPr>
              <a:t>EL PROBLEMA CENTRAL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Montserrat"/>
              </a:rPr>
              <a:t>Dos audiencias completamente
distintas. Un solo sitio para ambas.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40280"/>
            <a:ext cx="5303520" cy="438912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27685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00CC"/>
                </a:solidFill>
                <a:latin typeface="Montserrat"/>
              </a:rPr>
              <a:t>AUDIENCIA A — AFILIADO ACTUAL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61488"/>
            <a:ext cx="5303520" cy="466344"/>
          </a:xfrm>
          <a:prstGeom prst="rect">
            <a:avLst/>
          </a:prstGeom>
          <a:solidFill>
            <a:srgbClr val="22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285292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2BDFF"/>
                </a:solidFill>
                <a:latin typeface="Montserrat"/>
              </a:rPr>
              <a:t>Necesita: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85292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Montserrat"/>
              </a:rPr>
              <a:t>Sacar turno · Pagar cuota · Número de emergencia · Ver horarios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64408"/>
            <a:ext cx="5303520" cy="466344"/>
          </a:xfrm>
          <a:prstGeom prst="rect">
            <a:avLst/>
          </a:prstGeom>
          <a:solidFill>
            <a:srgbClr val="2A0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33558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2BDFF"/>
                </a:solidFill>
                <a:latin typeface="Montserrat"/>
              </a:rPr>
              <a:t>Entra por: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35584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Montserrat"/>
              </a:rPr>
              <a:t>Búsqueda de marca: 'Arevalo turnos' / 'Arevalo pagar cuota'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67328"/>
            <a:ext cx="5303520" cy="466344"/>
          </a:xfrm>
          <a:prstGeom prst="rect">
            <a:avLst/>
          </a:prstGeom>
          <a:solidFill>
            <a:srgbClr val="22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385876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2BDFF"/>
                </a:solidFill>
                <a:latin typeface="Montserrat"/>
              </a:rPr>
              <a:t>CTA ideal: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85876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Montserrat"/>
              </a:rPr>
              <a:t>"Reservá tu turno"  /  "Acceso afiliados"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270248"/>
            <a:ext cx="5303520" cy="466344"/>
          </a:xfrm>
          <a:prstGeom prst="rect">
            <a:avLst/>
          </a:prstGeom>
          <a:solidFill>
            <a:srgbClr val="2A0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436168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2BDFF"/>
                </a:solidFill>
                <a:latin typeface="Montserrat"/>
              </a:rPr>
              <a:t>Frustración actual: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436168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Montserrat"/>
              </a:rPr>
              <a:t>Menú de 6 ítems para encontrar un número de teléfono urgente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240280"/>
            <a:ext cx="5303520" cy="438912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227685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00CC"/>
                </a:solidFill>
                <a:latin typeface="Montserrat"/>
              </a:rPr>
              <a:t>AUDIENCIA B — POTENCIAL NUEVO AFILIADO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761488"/>
            <a:ext cx="5303520" cy="466344"/>
          </a:xfrm>
          <a:prstGeom prst="rect">
            <a:avLst/>
          </a:prstGeom>
          <a:solidFill>
            <a:srgbClr val="CC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37960" y="285292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2BDFF"/>
                </a:solidFill>
                <a:latin typeface="Montserrat"/>
              </a:rPr>
              <a:t>Necesita: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285292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Montserrat"/>
              </a:rPr>
              <a:t>Entender qué cubre · Cuánto cuesta · Si hay sucursal cerca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264408"/>
            <a:ext cx="5303520" cy="466344"/>
          </a:xfrm>
          <a:prstGeom prst="rect">
            <a:avLst/>
          </a:prstGeom>
          <a:solidFill>
            <a:srgbClr val="BB3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37960" y="33558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2BDFF"/>
                </a:solidFill>
                <a:latin typeface="Montserrat"/>
              </a:rPr>
              <a:t>Entra por: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335584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Montserrat"/>
              </a:rPr>
              <a:t>Búsqueda genérica: 'prepaga Tucumán' / 'médico sin obra social'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767328"/>
            <a:ext cx="5303520" cy="466344"/>
          </a:xfrm>
          <a:prstGeom prst="rect">
            <a:avLst/>
          </a:prstGeom>
          <a:solidFill>
            <a:srgbClr val="CC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7960" y="385876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2BDFF"/>
                </a:solidFill>
                <a:latin typeface="Montserrat"/>
              </a:rPr>
              <a:t>CTA ideal: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385876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Montserrat"/>
              </a:rPr>
              <a:t>"Quiero afiliarme"  /  "Consultá precio"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4270248"/>
            <a:ext cx="5303520" cy="466344"/>
          </a:xfrm>
          <a:prstGeom prst="rect">
            <a:avLst/>
          </a:prstGeom>
          <a:solidFill>
            <a:srgbClr val="BB3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37960" y="436168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2BDFF"/>
                </a:solidFill>
                <a:latin typeface="Montserrat"/>
              </a:rPr>
              <a:t>Frustración actual: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436168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Montserrat"/>
              </a:rPr>
              <a:t>Mismo menú que el afiliado. Sin precios. Sin diferenciadores.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882896"/>
            <a:ext cx="11274552" cy="713232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4937760"/>
            <a:ext cx="10908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00CC"/>
                </a:solidFill>
                <a:latin typeface="Montserrat"/>
              </a:rPr>
              <a:t>SOLUCIÓN:  La home necesita bifurcar desde el primer segundo.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212080"/>
            <a:ext cx="10908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300CC"/>
                </a:solidFill>
                <a:latin typeface="Montserrat"/>
              </a:rPr>
              <a:t>"¿Ya sos afiliado?"  →  Portal afiliados (turnos, pagos, emergencias)          |          "¿Querés conocernos?"  →  Funnel de captación (cobertura, precio, afiliación)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74320" y="6547104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Montserrat"/>
              </a:rPr>
              <a:t>Confidencial · Boreal Marketing × Arevalo Tucumán · Auditoría Digital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60152" y="65471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2BDFF"/>
                </a:solidFill>
                <a:latin typeface="Montserrat"/>
              </a:rPr>
              <a:t>boreal.com.ar</a:t>
            </a:r>
          </a:p>
        </p:txBody>
      </p:sp>
      <p:pic>
        <p:nvPicPr>
          <p:cNvPr id="39" name="Picture 2">
            <a:extLst>
              <a:ext uri="{FF2B5EF4-FFF2-40B4-BE49-F238E27FC236}">
                <a16:creationId xmlns:a16="http://schemas.microsoft.com/office/drawing/2014/main" id="{1017560F-F8E8-FF05-2B40-F6118F43B1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6591" y="-111952"/>
            <a:ext cx="2230961" cy="1254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ontserrat"/>
              </a:rPr>
              <a:t>ARQUITECTURA DE INFORMACIÓN PROPUESTA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2BDFF"/>
                </a:solidFill>
                <a:latin typeface="Montserrat"/>
              </a:rPr>
              <a:t>De un menú de 15 ítems a un recorrido por audiencia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78992"/>
            <a:ext cx="5303520" cy="36576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1556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ontserrat"/>
              </a:rPr>
              <a:t>ESTRUCTURA ACTUAL — Confusa para ambas audiencias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5303520" cy="42062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508760"/>
            <a:ext cx="54864" cy="420624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2064" y="158191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Inicio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65960"/>
            <a:ext cx="53035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965960"/>
            <a:ext cx="54864" cy="420624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2064" y="203911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Beneficios  ▸  Medicina / Emergencias / Farmacia / Sepelios / Complementos / Servicios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423160"/>
            <a:ext cx="5303520" cy="42062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2423160"/>
            <a:ext cx="54864" cy="420624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2064" y="249631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Seguros  ▸  Salud / Renta Diaria / Vida / Accidentes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880360"/>
            <a:ext cx="53035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5760" y="2880360"/>
            <a:ext cx="54864" cy="420624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2064" y="295351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Afiliación  ▸  Pre-Afiliación / Asesores / Contacto Afiliación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337560"/>
            <a:ext cx="5303520" cy="42062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3337560"/>
            <a:ext cx="54864" cy="420624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2064" y="341071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Noticias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794760"/>
            <a:ext cx="53035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5760" y="3794760"/>
            <a:ext cx="54864" cy="420624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2064" y="386791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Contacto  ▸  Números Útiles / Sucursales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32004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3300CC"/>
                </a:solidFill>
                <a:latin typeface="Montserrat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1078992"/>
            <a:ext cx="5303520" cy="365760"/>
          </a:xfrm>
          <a:prstGeom prst="rect">
            <a:avLst/>
          </a:prstGeom>
          <a:solidFill>
            <a:srgbClr val="00B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0" y="111556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ontserrat"/>
              </a:rPr>
              <a:t>ESTRUCTURA PROPUESTA — Bifurcada por audiencia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1499616"/>
            <a:ext cx="5303520" cy="274320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0" y="1517904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2BDFF"/>
                </a:solidFill>
                <a:latin typeface="Montserrat"/>
              </a:rPr>
              <a:t>NUEVO AFILIADO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1828800"/>
            <a:ext cx="530352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92240" y="1828800"/>
            <a:ext cx="54864" cy="384048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38544" y="189280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Cobertura médica  (24 especialidades · sucursales)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2249424"/>
            <a:ext cx="53035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492240" y="2249424"/>
            <a:ext cx="54864" cy="384048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38544" y="231343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Planes y precios  (rangos orientativos + comparativa)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2670048"/>
            <a:ext cx="530352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492240" y="2670048"/>
            <a:ext cx="54864" cy="384048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38544" y="273405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Por qué Arevalo  (diferenciadores + testimonios)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92240" y="3090672"/>
            <a:ext cx="53035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492240" y="3090672"/>
            <a:ext cx="54864" cy="384048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638544" y="31546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Cómo afiliarse  (3 pasos simples + formulario)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92240" y="3657600"/>
            <a:ext cx="5303520" cy="274320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83680" y="3675887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00CC"/>
                </a:solidFill>
                <a:latin typeface="Montserrat"/>
              </a:rPr>
              <a:t>AFILIADO ACTUAL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92240" y="3986784"/>
            <a:ext cx="530352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492240" y="3986784"/>
            <a:ext cx="54864" cy="384048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638544" y="405079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Sacá tu turno  (teléfono + app)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92240" y="4407408"/>
            <a:ext cx="53035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492240" y="4407408"/>
            <a:ext cx="54864" cy="384048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638544" y="447141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Pagá tu cuota  (débito + online)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92240" y="4828032"/>
            <a:ext cx="530352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492240" y="4828032"/>
            <a:ext cx="54864" cy="384048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638544" y="48920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Emergencias  (número siempre visible)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92240" y="5248656"/>
            <a:ext cx="53035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492240" y="5248656"/>
            <a:ext cx="54864" cy="384048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638544" y="531266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Sucursales y horarios  (mapa interactivo)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6035040"/>
            <a:ext cx="11274552" cy="25400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57200" y="6108192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1">
                <a:solidFill>
                  <a:srgbClr val="3300CC"/>
                </a:solidFill>
                <a:latin typeface="Montserrat"/>
              </a:rPr>
              <a:t>El objetivo: 0 clics para llegar a la acción principal de cada audiencia. Todo lo demás, en segundo nivel.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74320" y="6547104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Montserrat"/>
              </a:rPr>
              <a:t>Confidencial · Boreal Marketing × Arevalo Tucumán · Auditoría Digital 2026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360152" y="65471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2BDFF"/>
                </a:solidFill>
                <a:latin typeface="Montserrat"/>
              </a:rPr>
              <a:t>boreal.com.ar</a:t>
            </a:r>
          </a:p>
        </p:txBody>
      </p:sp>
      <p:pic>
        <p:nvPicPr>
          <p:cNvPr id="62" name="Picture 2">
            <a:extLst>
              <a:ext uri="{FF2B5EF4-FFF2-40B4-BE49-F238E27FC236}">
                <a16:creationId xmlns:a16="http://schemas.microsoft.com/office/drawing/2014/main" id="{74B4514E-9B9B-93E1-18A4-3B08885FD3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6591" y="-111952"/>
            <a:ext cx="2230961" cy="1254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ontserrat"/>
              </a:rPr>
              <a:t>ANÁLISIS DE CONTENIDO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2BDFF"/>
                </a:solidFill>
                <a:latin typeface="Montserrat"/>
              </a:rPr>
              <a:t>Qué dice el sitio, qué debería decir y qué falta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78992"/>
            <a:ext cx="11430000" cy="347472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ontserrat"/>
              </a:rPr>
              <a:t>PROPUESTA DE VALOR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54864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48132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A0A0"/>
                </a:solidFill>
                <a:latin typeface="Montserrat"/>
              </a:rPr>
              <a:t>ACTUAL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1907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  <a:latin typeface="Montserrat"/>
              </a:rPr>
              <a:t>"En salud tu tiempo cuenta"  —  Genérico. Podría ser de cualquier prepaga del país.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463040"/>
            <a:ext cx="5852160" cy="822960"/>
          </a:xfrm>
          <a:prstGeom prst="rect">
            <a:avLst/>
          </a:prstGeom>
          <a:solidFill>
            <a:srgbClr val="EE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35040" y="148132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300CC"/>
                </a:solidFill>
                <a:latin typeface="Montserrat"/>
              </a:rPr>
              <a:t>PROPUESTA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719072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3300CC"/>
                </a:solidFill>
                <a:latin typeface="Montserrat"/>
              </a:rPr>
              <a:t>"La cobertura médica completa de Tucumán — en tu ciudad, con tu médico, 24 horas."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423160"/>
            <a:ext cx="5486400" cy="347472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45059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ontserrat"/>
              </a:rPr>
              <a:t>CONTENIDO FALTANTE CRÍTICO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834640"/>
            <a:ext cx="5486400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5760" y="2834640"/>
            <a:ext cx="54864" cy="621792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2064" y="2889504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Montserrat"/>
              </a:rPr>
              <a:t>Precios orientativos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" y="3108960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333333"/>
                </a:solidFill>
                <a:latin typeface="Montserrat"/>
              </a:rPr>
              <a:t>La pregunta #1 del potencial afiliado es '¿cuánto sale?'. Sin respuesta = se va a Google a buscarla, y la competencia está ahí.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493008"/>
            <a:ext cx="54864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3493008"/>
            <a:ext cx="54864" cy="621792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2064" y="3547872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Montserrat"/>
              </a:rPr>
              <a:t>Testimonios de afiliados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" y="3767328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333333"/>
                </a:solidFill>
                <a:latin typeface="Montserrat"/>
              </a:rPr>
              <a:t>En salud, el boca a boca digital es el driver de conversión más poderoso. Hoy no hay ninguno visible.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151376"/>
            <a:ext cx="5486400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5760" y="4151376"/>
            <a:ext cx="54864" cy="621792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2064" y="4206240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Montserrat"/>
              </a:rPr>
              <a:t>Comparativa de planes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" y="4425696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333333"/>
                </a:solidFill>
                <a:latin typeface="Montserrat"/>
              </a:rPr>
              <a:t>Individual / Familiar / Grupal. Una tabla simple que responda '¿qué plan me conviene?' reduce enormemente la fricción.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809744"/>
            <a:ext cx="54864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65760" y="4809744"/>
            <a:ext cx="54864" cy="621792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12064" y="486460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Montserrat"/>
              </a:rPr>
              <a:t>Trayectoria con datos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" y="5084064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333333"/>
                </a:solidFill>
                <a:latin typeface="Montserrat"/>
              </a:rPr>
              <a:t>'25 años · +X afiliados · 24 especialidades · 5 sucursales'. Esos números generan confianza inmediata.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468112"/>
            <a:ext cx="5486400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65760" y="5468112"/>
            <a:ext cx="54864" cy="621792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12064" y="5522976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Montserrat"/>
              </a:rPr>
              <a:t>Proceso de afiliación visual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" y="5742432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333333"/>
                </a:solidFill>
                <a:latin typeface="Montserrat"/>
              </a:rPr>
              <a:t>El usuario no sabe cuánto tarda ni qué necesita. 3 pasos con íconos resuelven eso.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2423160"/>
            <a:ext cx="5669280" cy="347472"/>
          </a:xfrm>
          <a:prstGeom prst="rect">
            <a:avLst/>
          </a:prstGeom>
          <a:solidFill>
            <a:srgbClr val="00B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17920" y="245059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ontserrat"/>
              </a:rPr>
              <a:t>CONTENIDO EXISTENTE A POTENCIAR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6480" y="2834640"/>
            <a:ext cx="5669280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126480" y="2834640"/>
            <a:ext cx="54864" cy="621792"/>
          </a:xfrm>
          <a:prstGeom prst="rect">
            <a:avLst/>
          </a:prstGeom>
          <a:solidFill>
            <a:srgbClr val="00B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72784" y="2889504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Montserrat"/>
              </a:rPr>
              <a:t>App propia (Google Play)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72784" y="310896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333333"/>
                </a:solidFill>
                <a:latin typeface="Montserrat"/>
              </a:rPr>
              <a:t>Está disponible pero nunca se promociona. Un banner en el hero + campaña de installs la convierte en diferencial.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80" y="3493008"/>
            <a:ext cx="56692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126480" y="3493008"/>
            <a:ext cx="54864" cy="621792"/>
          </a:xfrm>
          <a:prstGeom prst="rect">
            <a:avLst/>
          </a:prstGeom>
          <a:solidFill>
            <a:srgbClr val="00B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72784" y="3547872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Montserrat"/>
              </a:rPr>
              <a:t>FAQ / Preguntas frecuentes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72784" y="3767328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333333"/>
                </a:solidFill>
                <a:latin typeface="Montserrat"/>
              </a:rPr>
              <a:t>Contenido que ya existe pero no está en el menú. Es SEO gratuito si se estructura bien.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26480" y="4151376"/>
            <a:ext cx="5669280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126480" y="4151376"/>
            <a:ext cx="54864" cy="621792"/>
          </a:xfrm>
          <a:prstGeom prst="rect">
            <a:avLst/>
          </a:prstGeom>
          <a:solidFill>
            <a:srgbClr val="00B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72784" y="420624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Montserrat"/>
              </a:rPr>
              <a:t>Blog de noticias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72784" y="4425696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333333"/>
                </a:solidFill>
                <a:latin typeface="Montserrat"/>
              </a:rPr>
              <a:t>2 posts en 2026. Con 2 artículos/semana de salud preventiva se puede posicionar en búsquedas locales en 60 días.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26480" y="4809744"/>
            <a:ext cx="56692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126480" y="4809744"/>
            <a:ext cx="54864" cy="621792"/>
          </a:xfrm>
          <a:prstGeom prst="rect">
            <a:avLst/>
          </a:prstGeom>
          <a:solidFill>
            <a:srgbClr val="00B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272784" y="486460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Montserrat"/>
              </a:rPr>
              <a:t>Sucursales interior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72784" y="5084064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333333"/>
                </a:solidFill>
                <a:latin typeface="Montserrat"/>
              </a:rPr>
              <a:t>Concepción, Monteros, Aguilares, Alberdi. Cada una merece su propia página con SEO local.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26480" y="5468112"/>
            <a:ext cx="5669280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126480" y="5468112"/>
            <a:ext cx="54864" cy="621792"/>
          </a:xfrm>
          <a:prstGeom prst="rect">
            <a:avLst/>
          </a:prstGeom>
          <a:solidFill>
            <a:srgbClr val="00B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272784" y="552297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Montserrat"/>
              </a:rPr>
              <a:t>Especialidades (24)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72784" y="5742432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333333"/>
                </a:solidFill>
                <a:latin typeface="Montserrat"/>
              </a:rPr>
              <a:t>Una tabla de médicos y horarios no comunica el valor. Hay que convertirlo en 'conocé a tu equipo médico'.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74320" y="6547104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Montserrat"/>
              </a:rPr>
              <a:t>Confidencial · Boreal Marketing × Arevalo Tucumán · Auditoría Digital 2026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60152" y="65471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2BDFF"/>
                </a:solidFill>
                <a:latin typeface="Montserrat"/>
              </a:rPr>
              <a:t>boreal.com.ar</a:t>
            </a:r>
          </a:p>
        </p:txBody>
      </p:sp>
      <p:pic>
        <p:nvPicPr>
          <p:cNvPr id="61" name="Picture 2">
            <a:extLst>
              <a:ext uri="{FF2B5EF4-FFF2-40B4-BE49-F238E27FC236}">
                <a16:creationId xmlns:a16="http://schemas.microsoft.com/office/drawing/2014/main" id="{02476869-BEF9-4F0D-9760-E9725636E4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6591" y="-111952"/>
            <a:ext cx="2230961" cy="1254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2BDFF"/>
                </a:solidFill>
                <a:latin typeface="Montserrat"/>
              </a:rPr>
              <a:t>BASES PARA CAMPAÑAS — ADS Y REDES SOCIALES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Montserrat"/>
              </a:rPr>
              <a:t>Qué canales, qué audiencias y qué mensaje.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11430000" cy="347472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5331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00CC"/>
                </a:solidFill>
                <a:latin typeface="Montserrat"/>
              </a:rPr>
              <a:t>SEGMENTOS DE AUDIENCIA PRIORITARIOS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2523744" cy="329184"/>
          </a:xfrm>
          <a:prstGeom prst="rect">
            <a:avLst/>
          </a:prstGeom>
          <a:solidFill>
            <a:srgbClr val="22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755648"/>
            <a:ext cx="2395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2BDFF"/>
                </a:solidFill>
                <a:latin typeface="Montserrat"/>
              </a:rPr>
              <a:t>SEGMENTO</a:t>
            </a:r>
          </a:p>
        </p:txBody>
      </p:sp>
      <p:sp>
        <p:nvSpPr>
          <p:cNvPr id="9" name="Rectangle 8"/>
          <p:cNvSpPr/>
          <p:nvPr/>
        </p:nvSpPr>
        <p:spPr>
          <a:xfrm>
            <a:off x="2962656" y="1737360"/>
            <a:ext cx="3163824" cy="329184"/>
          </a:xfrm>
          <a:prstGeom prst="rect">
            <a:avLst/>
          </a:prstGeom>
          <a:solidFill>
            <a:srgbClr val="22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35808" y="1755648"/>
            <a:ext cx="3035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2BDFF"/>
                </a:solidFill>
                <a:latin typeface="Montserrat"/>
              </a:rPr>
              <a:t>PERFIL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737360"/>
            <a:ext cx="2249424" cy="329184"/>
          </a:xfrm>
          <a:prstGeom prst="rect">
            <a:avLst/>
          </a:prstGeom>
          <a:solidFill>
            <a:srgbClr val="22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72784" y="1755648"/>
            <a:ext cx="2121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2BDFF"/>
                </a:solidFill>
                <a:latin typeface="Montserrat"/>
              </a:rPr>
              <a:t>CANAL IDEAL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22208" y="1737360"/>
            <a:ext cx="3163824" cy="329184"/>
          </a:xfrm>
          <a:prstGeom prst="rect">
            <a:avLst/>
          </a:prstGeom>
          <a:solidFill>
            <a:srgbClr val="22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60" y="1755648"/>
            <a:ext cx="3035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2BDFF"/>
                </a:solidFill>
                <a:latin typeface="Montserrat"/>
              </a:rPr>
              <a:t>MENSAJE CLAVE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121408"/>
            <a:ext cx="2523744" cy="438912"/>
          </a:xfrm>
          <a:prstGeom prst="rect">
            <a:avLst/>
          </a:prstGeom>
          <a:solidFill>
            <a:srgbClr val="22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8912" y="2185416"/>
            <a:ext cx="23957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Montserrat"/>
              </a:rPr>
              <a:t>Sin cobertura médica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62656" y="2121408"/>
            <a:ext cx="3163824" cy="438912"/>
          </a:xfrm>
          <a:prstGeom prst="rect">
            <a:avLst/>
          </a:prstGeom>
          <a:solidFill>
            <a:srgbClr val="22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035808" y="2185416"/>
            <a:ext cx="3035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Montserrat"/>
              </a:rPr>
              <a:t>25-55 años, Tucumán capital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9632" y="2121408"/>
            <a:ext cx="2249424" cy="438912"/>
          </a:xfrm>
          <a:prstGeom prst="rect">
            <a:avLst/>
          </a:prstGeom>
          <a:solidFill>
            <a:srgbClr val="22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72784" y="2185416"/>
            <a:ext cx="21214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Montserrat"/>
              </a:rPr>
              <a:t>Google Search + Meta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22208" y="2121408"/>
            <a:ext cx="3163824" cy="438912"/>
          </a:xfrm>
          <a:prstGeom prst="rect">
            <a:avLst/>
          </a:prstGeom>
          <a:solidFill>
            <a:srgbClr val="22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95360" y="2185416"/>
            <a:ext cx="3035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Montserrat"/>
              </a:rPr>
              <a:t>"Cobertura médica completa. Desde $X/mes."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596896"/>
            <a:ext cx="2523744" cy="438912"/>
          </a:xfrm>
          <a:prstGeom prst="rect">
            <a:avLst/>
          </a:prstGeom>
          <a:solidFill>
            <a:srgbClr val="2A0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8912" y="2660904"/>
            <a:ext cx="23957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Montserrat"/>
              </a:rPr>
              <a:t>Familias con hijos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62656" y="2596896"/>
            <a:ext cx="3163824" cy="438912"/>
          </a:xfrm>
          <a:prstGeom prst="rect">
            <a:avLst/>
          </a:prstGeom>
          <a:solidFill>
            <a:srgbClr val="2A0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035808" y="2660904"/>
            <a:ext cx="3035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Montserrat"/>
              </a:rPr>
              <a:t>Padres 28-45, salud familiar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99632" y="2596896"/>
            <a:ext cx="2249424" cy="438912"/>
          </a:xfrm>
          <a:prstGeom prst="rect">
            <a:avLst/>
          </a:prstGeom>
          <a:solidFill>
            <a:srgbClr val="2A0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72784" y="2660904"/>
            <a:ext cx="21214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Montserrat"/>
              </a:rPr>
              <a:t>Meta (FB/IG Stories)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22208" y="2596896"/>
            <a:ext cx="3163824" cy="438912"/>
          </a:xfrm>
          <a:prstGeom prst="rect">
            <a:avLst/>
          </a:prstGeom>
          <a:solidFill>
            <a:srgbClr val="2A0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95360" y="2660904"/>
            <a:ext cx="3035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Montserrat"/>
              </a:rPr>
              <a:t>"Pediatría, odonto y urgencias para toda la familia."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072384"/>
            <a:ext cx="2523744" cy="438912"/>
          </a:xfrm>
          <a:prstGeom prst="rect">
            <a:avLst/>
          </a:prstGeom>
          <a:solidFill>
            <a:srgbClr val="22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8912" y="3136392"/>
            <a:ext cx="23957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Montserrat"/>
              </a:rPr>
              <a:t>Monotributistas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62656" y="3072384"/>
            <a:ext cx="3163824" cy="438912"/>
          </a:xfrm>
          <a:prstGeom prst="rect">
            <a:avLst/>
          </a:prstGeom>
          <a:solidFill>
            <a:srgbClr val="22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035808" y="3136392"/>
            <a:ext cx="3035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Montserrat"/>
              </a:rPr>
              <a:t>Sin obra social patronal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9632" y="3072384"/>
            <a:ext cx="2249424" cy="438912"/>
          </a:xfrm>
          <a:prstGeom prst="rect">
            <a:avLst/>
          </a:prstGeom>
          <a:solidFill>
            <a:srgbClr val="22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72784" y="3136392"/>
            <a:ext cx="21214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Montserrat"/>
              </a:rPr>
              <a:t>Google Search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22208" y="3072384"/>
            <a:ext cx="3163824" cy="438912"/>
          </a:xfrm>
          <a:prstGeom prst="rect">
            <a:avLst/>
          </a:prstGeom>
          <a:solidFill>
            <a:srgbClr val="22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595360" y="3136392"/>
            <a:ext cx="3035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Montserrat"/>
              </a:rPr>
              <a:t>"Tu prepaga sin obra social. Todo Tucumán cubierto."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3547872"/>
            <a:ext cx="2523744" cy="438912"/>
          </a:xfrm>
          <a:prstGeom prst="rect">
            <a:avLst/>
          </a:prstGeom>
          <a:solidFill>
            <a:srgbClr val="2A0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8912" y="3611880"/>
            <a:ext cx="23957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Montserrat"/>
              </a:rPr>
              <a:t>Interior de la provincia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62656" y="3547872"/>
            <a:ext cx="3163824" cy="438912"/>
          </a:xfrm>
          <a:prstGeom prst="rect">
            <a:avLst/>
          </a:prstGeom>
          <a:solidFill>
            <a:srgbClr val="2A0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035808" y="3611880"/>
            <a:ext cx="3035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Montserrat"/>
              </a:rPr>
              <a:t>Concepción, Monteros, etc.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99632" y="3547872"/>
            <a:ext cx="2249424" cy="438912"/>
          </a:xfrm>
          <a:prstGeom prst="rect">
            <a:avLst/>
          </a:prstGeom>
          <a:solidFill>
            <a:srgbClr val="2A0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72784" y="3611880"/>
            <a:ext cx="21214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Montserrat"/>
              </a:rPr>
              <a:t>Meta local por ciudad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22208" y="3547872"/>
            <a:ext cx="3163824" cy="438912"/>
          </a:xfrm>
          <a:prstGeom prst="rect">
            <a:avLst/>
          </a:prstGeom>
          <a:solidFill>
            <a:srgbClr val="2A0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595360" y="3611880"/>
            <a:ext cx="3035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Montserrat"/>
              </a:rPr>
              <a:t>"Ahora en [ciudad] — la misma atención cerca tuyo."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4023360"/>
            <a:ext cx="2523744" cy="438912"/>
          </a:xfrm>
          <a:prstGeom prst="rect">
            <a:avLst/>
          </a:prstGeom>
          <a:solidFill>
            <a:srgbClr val="22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38912" y="4087368"/>
            <a:ext cx="23957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Montserrat"/>
              </a:rPr>
              <a:t>Visitas web sin conversión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62656" y="4023360"/>
            <a:ext cx="3163824" cy="438912"/>
          </a:xfrm>
          <a:prstGeom prst="rect">
            <a:avLst/>
          </a:prstGeom>
          <a:solidFill>
            <a:srgbClr val="22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035808" y="4087368"/>
            <a:ext cx="3035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Montserrat"/>
              </a:rPr>
              <a:t>Ya visitaron el sitio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99632" y="4023360"/>
            <a:ext cx="2249424" cy="438912"/>
          </a:xfrm>
          <a:prstGeom prst="rect">
            <a:avLst/>
          </a:prstGeom>
          <a:solidFill>
            <a:srgbClr val="22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272784" y="4087368"/>
            <a:ext cx="21214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Montserrat"/>
              </a:rPr>
              <a:t>Meta Retargeting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22208" y="4023360"/>
            <a:ext cx="3163824" cy="438912"/>
          </a:xfrm>
          <a:prstGeom prst="rect">
            <a:avLst/>
          </a:prstGeom>
          <a:solidFill>
            <a:srgbClr val="22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595360" y="4087368"/>
            <a:ext cx="3035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Montserrat"/>
              </a:rPr>
              <a:t>"Todavía podés consultarnos. Es gratis y sin compromiso."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4617720"/>
            <a:ext cx="11430000" cy="347472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57200" y="464515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00CC"/>
                </a:solidFill>
                <a:latin typeface="Montserrat"/>
              </a:rPr>
              <a:t>PILARES DE CONTENIDO — INSTAGRAM Y FACEBOOK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5029200"/>
            <a:ext cx="1901952" cy="1481328"/>
          </a:xfrm>
          <a:prstGeom prst="rect">
            <a:avLst/>
          </a:prstGeom>
          <a:solidFill>
            <a:srgbClr val="22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365760" y="5029200"/>
            <a:ext cx="1901952" cy="54864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75488" y="5102352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BDFF"/>
                </a:solidFill>
                <a:latin typeface="Montserrat"/>
              </a:rPr>
              <a:t>🩺 Salud
preventiva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5488" y="55778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Montserrat"/>
              </a:rPr>
              <a:t>Tips semanales
de salud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331720" y="5029200"/>
            <a:ext cx="1901952" cy="1481328"/>
          </a:xfrm>
          <a:prstGeom prst="rect">
            <a:avLst/>
          </a:prstGeom>
          <a:solidFill>
            <a:srgbClr val="22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331720" y="5029200"/>
            <a:ext cx="1901952" cy="54864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441448" y="5102352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BDFF"/>
                </a:solidFill>
                <a:latin typeface="Montserrat"/>
              </a:rPr>
              <a:t>👨‍⚕️ Nuestro
equipo médico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441448" y="55778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Montserrat"/>
              </a:rPr>
              <a:t>Presentación de
especialistas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297680" y="5029200"/>
            <a:ext cx="1901952" cy="1481328"/>
          </a:xfrm>
          <a:prstGeom prst="rect">
            <a:avLst/>
          </a:prstGeom>
          <a:solidFill>
            <a:srgbClr val="22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4297680" y="5029200"/>
            <a:ext cx="1901952" cy="54864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407408" y="5102352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BDFF"/>
                </a:solidFill>
                <a:latin typeface="Montserrat"/>
              </a:rPr>
              <a:t>🏙️ Vida en
sucursales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07408" y="55778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Montserrat"/>
              </a:rPr>
              <a:t>Fotos reales del
equipo en cada ciudad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263640" y="5029200"/>
            <a:ext cx="1901952" cy="1481328"/>
          </a:xfrm>
          <a:prstGeom prst="rect">
            <a:avLst/>
          </a:prstGeom>
          <a:solidFill>
            <a:srgbClr val="22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6263640" y="5029200"/>
            <a:ext cx="1901952" cy="54864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373368" y="5102352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BDFF"/>
                </a:solidFill>
                <a:latin typeface="Montserrat"/>
              </a:rPr>
              <a:t>📲 App +
turnos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373368" y="55778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Montserrat"/>
              </a:rPr>
              <a:t>Cómo usar la app
en 1 minuto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229600" y="5029200"/>
            <a:ext cx="1901952" cy="1481328"/>
          </a:xfrm>
          <a:prstGeom prst="rect">
            <a:avLst/>
          </a:prstGeom>
          <a:solidFill>
            <a:srgbClr val="22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8229600" y="5029200"/>
            <a:ext cx="1901952" cy="54864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339328" y="5102352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BDFF"/>
                </a:solidFill>
                <a:latin typeface="Montserrat"/>
              </a:rPr>
              <a:t>💬 Testimonio
de afiliado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339328" y="55778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Montserrat"/>
              </a:rPr>
              <a:t>Historia real
cada semana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195560" y="5029200"/>
            <a:ext cx="1901952" cy="1481328"/>
          </a:xfrm>
          <a:prstGeom prst="rect">
            <a:avLst/>
          </a:prstGeom>
          <a:solidFill>
            <a:srgbClr val="22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10195560" y="5029200"/>
            <a:ext cx="1901952" cy="54864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10305288" y="5102352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BDFF"/>
                </a:solidFill>
                <a:latin typeface="Montserrat"/>
              </a:rPr>
              <a:t>🚨 Emergencias
y guardia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305288" y="55778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Montserrat"/>
              </a:rPr>
              <a:t>Recordatorio del
número urgente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274320" y="6547104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Montserrat"/>
              </a:rPr>
              <a:t>Confidencial · Boreal Marketing × Arevalo Tucumán · Auditoría Digital 2026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360152" y="65471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2BDFF"/>
                </a:solidFill>
                <a:latin typeface="Montserrat"/>
              </a:rPr>
              <a:t>boreal.com.ar</a:t>
            </a:r>
          </a:p>
        </p:txBody>
      </p:sp>
      <p:pic>
        <p:nvPicPr>
          <p:cNvPr id="84" name="Picture 2">
            <a:extLst>
              <a:ext uri="{FF2B5EF4-FFF2-40B4-BE49-F238E27FC236}">
                <a16:creationId xmlns:a16="http://schemas.microsoft.com/office/drawing/2014/main" id="{64ADA6A8-2C52-3099-EBE6-8AEB9E2A0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6591" y="-111952"/>
            <a:ext cx="2230961" cy="1254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ontserrat"/>
              </a:rPr>
              <a:t>PLAN DE ACCIÓN PRIORIZADO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2BDFF"/>
                </a:solidFill>
                <a:latin typeface="Montserrat"/>
              </a:rPr>
              <a:t>Ordenado por impacto en negocio · Nivel de esfuerzo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1051560"/>
            <a:ext cx="320040" cy="347472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02336" y="1069848"/>
            <a:ext cx="210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ontserrat"/>
              </a:rPr>
              <a:t>#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051560"/>
            <a:ext cx="2423160" cy="347472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" y="1069848"/>
            <a:ext cx="2313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ontserrat"/>
              </a:rPr>
              <a:t>HALLAZGO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54680" y="1051560"/>
            <a:ext cx="1417320" cy="347472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9544" y="1069848"/>
            <a:ext cx="1307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ontserrat"/>
              </a:rPr>
              <a:t>PRIORIDAD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1051560"/>
            <a:ext cx="1051560" cy="347472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72584" y="1069848"/>
            <a:ext cx="941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ontserrat"/>
              </a:rPr>
              <a:t>ESFUERZO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0" y="1051560"/>
            <a:ext cx="4297680" cy="347472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69864" y="1069848"/>
            <a:ext cx="4187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ontserrat"/>
              </a:rPr>
              <a:t>ACCIÓN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0" y="1051560"/>
            <a:ext cx="1920240" cy="347472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113264" y="1069848"/>
            <a:ext cx="1810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ontserrat"/>
              </a:rPr>
              <a:t>KPI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" y="1463040"/>
            <a:ext cx="32004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3192" y="1517904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0000"/>
                </a:solidFill>
                <a:latin typeface="Montserrat"/>
              </a:rPr>
              <a:t>#1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1463040"/>
            <a:ext cx="242316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1517904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GA4 apagado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54680" y="1463040"/>
            <a:ext cx="141732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00400" y="1517904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2222"/>
                </a:solidFill>
                <a:latin typeface="Montserrat"/>
              </a:rPr>
              <a:t>🔴 CRÍTICO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17720" y="1463040"/>
            <a:ext cx="105156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63440" y="1517904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Muy bajo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5000" y="1463040"/>
            <a:ext cx="429768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760720" y="1517904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Activar enabledGoogle en config WP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0" y="1463040"/>
            <a:ext cx="192024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104120" y="151790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Datos desde día 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" y="1856232"/>
            <a:ext cx="3200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93192" y="1911096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0000"/>
                </a:solidFill>
                <a:latin typeface="Montserrat"/>
              </a:rPr>
              <a:t>#2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1856232"/>
            <a:ext cx="24231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520" y="191109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Hero carrusel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54680" y="1856232"/>
            <a:ext cx="14173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00400" y="1911096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2222"/>
                </a:solidFill>
                <a:latin typeface="Montserrat"/>
              </a:rPr>
              <a:t>🔴 CRÍTICO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17720" y="1856232"/>
            <a:ext cx="10515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663440" y="1911096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Medio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15000" y="1856232"/>
            <a:ext cx="42976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760720" y="1911096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Reemplazar por hero estático con 2 CTAs primarios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58400" y="1856232"/>
            <a:ext cx="19202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104120" y="191109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+CVR estimado 25%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7472" y="2249424"/>
            <a:ext cx="32004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93192" y="2304288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0000"/>
                </a:solidFill>
                <a:latin typeface="Montserrat"/>
              </a:rPr>
              <a:t>#3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5800" y="2249424"/>
            <a:ext cx="242316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31520" y="2304288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Bifurcación audiencias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54680" y="2249424"/>
            <a:ext cx="141732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200400" y="230428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2222"/>
                </a:solidFill>
                <a:latin typeface="Montserrat"/>
              </a:rPr>
              <a:t>🔴 CRÍTICO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17720" y="2249424"/>
            <a:ext cx="105156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663440" y="2304288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Alto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715000" y="2249424"/>
            <a:ext cx="429768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760720" y="230428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Rediseñar home: afiliado vs. nuevo afiliado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058400" y="2249424"/>
            <a:ext cx="192024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104120" y="23042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+CVR +30%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47472" y="2642616"/>
            <a:ext cx="3200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93192" y="269748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0000"/>
                </a:solidFill>
                <a:latin typeface="Montserrat"/>
              </a:rPr>
              <a:t>#4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85800" y="2642616"/>
            <a:ext cx="24231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31520" y="269748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Eventos Meta Pixel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154680" y="2642616"/>
            <a:ext cx="14173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200400" y="26974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8800"/>
                </a:solidFill>
                <a:latin typeface="Montserrat"/>
              </a:rPr>
              <a:t>🟠 ALTO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17720" y="2642616"/>
            <a:ext cx="10515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663440" y="269748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Bajo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715000" y="2642616"/>
            <a:ext cx="42976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760720" y="269748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Configurar Lead, Contact, ViewContent vía GTM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058400" y="2642616"/>
            <a:ext cx="19202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104120" y="2697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Retargeting activo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47472" y="3035808"/>
            <a:ext cx="32004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93192" y="309067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0000"/>
                </a:solidFill>
                <a:latin typeface="Montserrat"/>
              </a:rPr>
              <a:t>#5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85800" y="3035808"/>
            <a:ext cx="242316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31520" y="3090672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Landing captación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154680" y="3035808"/>
            <a:ext cx="141732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200400" y="309067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8800"/>
                </a:solidFill>
                <a:latin typeface="Montserrat"/>
              </a:rPr>
              <a:t>🟠 ALTO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17720" y="3035808"/>
            <a:ext cx="105156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663440" y="309067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Medio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715000" y="3035808"/>
            <a:ext cx="429768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760720" y="309067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Landing nuevo afiliado + formulario 3 pasos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058400" y="3035808"/>
            <a:ext cx="192024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0104120" y="30906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Leads directos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47472" y="3429000"/>
            <a:ext cx="3200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393192" y="3483864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0000"/>
                </a:solidFill>
                <a:latin typeface="Montserrat"/>
              </a:rPr>
              <a:t>#6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85800" y="3429000"/>
            <a:ext cx="24231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731520" y="3483864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Precios en seguros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154680" y="3429000"/>
            <a:ext cx="14173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3200400" y="3483864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8800"/>
                </a:solidFill>
                <a:latin typeface="Montserrat"/>
              </a:rPr>
              <a:t>🟠 ALTO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17720" y="3429000"/>
            <a:ext cx="10515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663440" y="3483864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Bajo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715000" y="3429000"/>
            <a:ext cx="42976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760720" y="3483864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Agregar rangos orientativos ('desde $X')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058400" y="3429000"/>
            <a:ext cx="19202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10104120" y="34838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-rebote 20%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47472" y="3822192"/>
            <a:ext cx="32004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393192" y="3877056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0000"/>
                </a:solidFill>
                <a:latin typeface="Montserrat"/>
              </a:rPr>
              <a:t>#7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85800" y="3822192"/>
            <a:ext cx="242316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731520" y="387705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Google Search B2B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154680" y="3822192"/>
            <a:ext cx="141732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3200400" y="3877056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8800"/>
                </a:solidFill>
                <a:latin typeface="Montserrat"/>
              </a:rPr>
              <a:t>🟠 ALTO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17720" y="3822192"/>
            <a:ext cx="105156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4663440" y="3877056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Medio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715000" y="3822192"/>
            <a:ext cx="429768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5760720" y="3877056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Keywords: prepaga Tucumán + interior provincia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058400" y="3822192"/>
            <a:ext cx="192024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10104120" y="38770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CPL objetivo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47472" y="4215384"/>
            <a:ext cx="3200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393192" y="4270248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0000"/>
                </a:solidFill>
                <a:latin typeface="Montserrat"/>
              </a:rPr>
              <a:t>#8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85800" y="4215384"/>
            <a:ext cx="24231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731520" y="4270248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Retargeting Meta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154680" y="4215384"/>
            <a:ext cx="14173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3200400" y="427024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8800"/>
                </a:solidFill>
                <a:latin typeface="Montserrat"/>
              </a:rPr>
              <a:t>🟠 ALTO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617720" y="4215384"/>
            <a:ext cx="10515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4663440" y="4270248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Bajo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715000" y="4215384"/>
            <a:ext cx="42976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5760720" y="427024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Audiencia visitantes web (pixel ya activo)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0058400" y="4215384"/>
            <a:ext cx="19202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10104120" y="4270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Recuperar leads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47472" y="4608576"/>
            <a:ext cx="32004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393192" y="466344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0000"/>
                </a:solidFill>
                <a:latin typeface="Montserrat"/>
              </a:rPr>
              <a:t>#9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85800" y="4608576"/>
            <a:ext cx="242316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731520" y="466344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Testimonios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154680" y="4608576"/>
            <a:ext cx="141732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3200400" y="46634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8800"/>
                </a:solidFill>
                <a:latin typeface="Montserrat"/>
              </a:rPr>
              <a:t>🟡 MEDIO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4617720" y="4608576"/>
            <a:ext cx="105156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4663440" y="466344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Bajo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715000" y="4608576"/>
            <a:ext cx="429768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5760720" y="466344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5-8 historias reales de afiliados con foto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0058400" y="4608576"/>
            <a:ext cx="192024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1010412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+confianza CVR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47472" y="5001768"/>
            <a:ext cx="3200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393192" y="505663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0000"/>
                </a:solidFill>
                <a:latin typeface="Montserrat"/>
              </a:rPr>
              <a:t>#10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685800" y="5001768"/>
            <a:ext cx="24231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731520" y="5056632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SEO local sucursales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3154680" y="5001768"/>
            <a:ext cx="14173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3200400" y="505663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8800"/>
                </a:solidFill>
                <a:latin typeface="Montserrat"/>
              </a:rPr>
              <a:t>🟡 MEDIO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4617720" y="5001768"/>
            <a:ext cx="10515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4663440" y="505663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Medio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5715000" y="5001768"/>
            <a:ext cx="42976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5760720" y="505663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Páginas individuales Concepción, Monteros, etc.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0058400" y="5001768"/>
            <a:ext cx="19202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10104120" y="50566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Tráfico local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347472" y="5394960"/>
            <a:ext cx="32004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393192" y="5449824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0000"/>
                </a:solidFill>
                <a:latin typeface="Montserrat"/>
              </a:rPr>
              <a:t>#11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85800" y="5394960"/>
            <a:ext cx="242316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731520" y="5449824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Blog de salud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154680" y="5394960"/>
            <a:ext cx="141732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3200400" y="5449824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8800"/>
                </a:solidFill>
                <a:latin typeface="Montserrat"/>
              </a:rPr>
              <a:t>🟡 MEDIO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4617720" y="5394960"/>
            <a:ext cx="105156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4663440" y="5449824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Medio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5715000" y="5394960"/>
            <a:ext cx="429768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5760720" y="5449824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2 artículos/semana con intent local en Tucumán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0058400" y="5394960"/>
            <a:ext cx="192024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10104120" y="544982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Orgánico 60 días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347472" y="5788152"/>
            <a:ext cx="3200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393192" y="5843016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0000"/>
                </a:solidFill>
                <a:latin typeface="Montserrat"/>
              </a:rPr>
              <a:t>#12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685800" y="5788152"/>
            <a:ext cx="24231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731520" y="58430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Promover la App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3154680" y="5788152"/>
            <a:ext cx="14173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3200400" y="5843016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B060"/>
                </a:solidFill>
                <a:latin typeface="Montserrat"/>
              </a:rPr>
              <a:t>🟢 BAJO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4617720" y="5788152"/>
            <a:ext cx="10515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4663440" y="5843016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Bajo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5715000" y="5788152"/>
            <a:ext cx="42976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5760720" y="5843016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Banner hero + campaña App installs Meta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10058400" y="5788152"/>
            <a:ext cx="19202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10104120" y="584301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+descargas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274320" y="6547104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Montserrat"/>
              </a:rPr>
              <a:t>Confidencial · Boreal Marketing × Arevalo Tucumán · Auditoría Digital 2026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0360152" y="65471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2BDFF"/>
                </a:solidFill>
                <a:latin typeface="Montserrat"/>
              </a:rPr>
              <a:t>boreal.com.ar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99832" y="0"/>
            <a:ext cx="4389120" cy="3086100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714232" y="3086100"/>
            <a:ext cx="3474720" cy="3771900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994392" y="1371600"/>
            <a:ext cx="2194560" cy="2286000"/>
          </a:xfrm>
          <a:prstGeom prst="rect">
            <a:avLst/>
          </a:prstGeom>
          <a:solidFill>
            <a:srgbClr val="22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BDFF"/>
                </a:solidFill>
                <a:latin typeface="Montserrat"/>
              </a:rPr>
              <a:t>PROPUESTA COMERCIAL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8368"/>
            <a:ext cx="749807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Montserrat"/>
              </a:rPr>
              <a:t>Cómo trabajamos
con vos.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23160"/>
            <a:ext cx="3566160" cy="1508760"/>
          </a:xfrm>
          <a:prstGeom prst="rect">
            <a:avLst/>
          </a:prstGeom>
          <a:solidFill>
            <a:srgbClr val="22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2423160"/>
            <a:ext cx="73152" cy="1508760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587752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BDFF"/>
                </a:solidFill>
                <a:latin typeface="Montserrat"/>
              </a:rPr>
              <a:t>💰  Todo incluido en el fee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90088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Montserrat"/>
              </a:rPr>
              <a:t>Modificaciones, actualizaciones, estrategia mensual y soporte — sin costos ocultos ni sorpresas.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2423160"/>
            <a:ext cx="3566160" cy="1508760"/>
          </a:xfrm>
          <a:prstGeom prst="rect">
            <a:avLst/>
          </a:prstGeom>
          <a:solidFill>
            <a:srgbClr val="22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2423160"/>
            <a:ext cx="73152" cy="1508760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6280" y="2587752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BDFF"/>
                </a:solidFill>
                <a:latin typeface="Montserrat"/>
              </a:rPr>
              <a:t>📅  Fee mensual en USD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990088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Montserrat"/>
              </a:rPr>
              <a:t>Precio estable y previsible. Sin contratos de largo plazo. Podés escalar o ajustar mes a mes.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160520"/>
            <a:ext cx="3566160" cy="1508760"/>
          </a:xfrm>
          <a:prstGeom prst="rect">
            <a:avLst/>
          </a:prstGeom>
          <a:solidFill>
            <a:srgbClr val="22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4160520"/>
            <a:ext cx="73152" cy="1508760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4325112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BDFF"/>
                </a:solidFill>
                <a:latin typeface="Montserrat"/>
              </a:rPr>
              <a:t>🧩  Modelo modular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727448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Montserrat"/>
              </a:rPr>
              <a:t>Activás lo que necesitás hoy. Agregás módulos cuando tu negocio crece o surgen nuevos objetivos.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4160520"/>
            <a:ext cx="3566160" cy="1508760"/>
          </a:xfrm>
          <a:prstGeom prst="rect">
            <a:avLst/>
          </a:prstGeom>
          <a:solidFill>
            <a:srgbClr val="22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43400" y="4160520"/>
            <a:ext cx="73152" cy="1508760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26280" y="4325112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BDFF"/>
                </a:solidFill>
                <a:latin typeface="Montserrat"/>
              </a:rPr>
              <a:t>📣  Pauta publicitaria aparte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727448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Montserrat"/>
              </a:rPr>
              <a:t>El presupuesto de Google Ads y Meta Ads es tuyo. Nosotros lo gestionamos — vos decidís cuánto invertir.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4320" y="6547104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Montserrat"/>
              </a:rPr>
              <a:t>Confidencial · Boreal Marketing × Arevalo Tucumán · Auditoría Digital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60152" y="65471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2BDFF"/>
                </a:solidFill>
                <a:latin typeface="Montserrat"/>
              </a:rPr>
              <a:t>boreal.com.ar</a:t>
            </a:r>
          </a:p>
        </p:txBody>
      </p:sp>
      <p:pic>
        <p:nvPicPr>
          <p:cNvPr id="28" name="Picture 2">
            <a:extLst>
              <a:ext uri="{FF2B5EF4-FFF2-40B4-BE49-F238E27FC236}">
                <a16:creationId xmlns:a16="http://schemas.microsoft.com/office/drawing/2014/main" id="{2CE2E58E-08B2-9039-1054-1C73A21778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539" y="1116977"/>
            <a:ext cx="5410586" cy="3043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ontserrat"/>
              </a:rPr>
              <a:t>PLANES BOREAL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2BDFF"/>
                </a:solidFill>
                <a:latin typeface="Montserrat"/>
              </a:rPr>
              <a:t>Fee mensual en USD · Todo incluido · Pauta publicitaria aparte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1170432"/>
            <a:ext cx="3657600" cy="384048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93192" y="1188720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300CC"/>
                </a:solidFill>
                <a:latin typeface="Montserrat"/>
              </a:rPr>
              <a:t>STARTER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1554480"/>
            <a:ext cx="3657600" cy="530352"/>
          </a:xfrm>
          <a:prstGeom prst="rect">
            <a:avLst/>
          </a:prstGeom>
          <a:solidFill>
            <a:srgbClr val="0A9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3192" y="1609344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ontserrat"/>
              </a:rPr>
              <a:t>$600 USD/mes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2148840"/>
            <a:ext cx="3657600" cy="3383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7472" y="2148840"/>
            <a:ext cx="45720" cy="338328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" y="2203704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60"/>
                </a:solidFill>
                <a:latin typeface="Montserrat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2203704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Gestión de contenido (12 posts/mes)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" y="2510028"/>
            <a:ext cx="36576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7472" y="2510028"/>
            <a:ext cx="45720" cy="338328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8912" y="2564892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60"/>
                </a:solidFill>
                <a:latin typeface="Montserrat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2564892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Diseño de piezas gráficas para el CM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" y="2871216"/>
            <a:ext cx="3657600" cy="3383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47472" y="2871216"/>
            <a:ext cx="45720" cy="338328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8912" y="2926080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60"/>
                </a:solidFill>
                <a:latin typeface="Montserrat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2926080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Edición de videos del CM (hasta 4/mes)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" y="3232404"/>
            <a:ext cx="36576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47472" y="3232404"/>
            <a:ext cx="45720" cy="338328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8912" y="3287268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60"/>
                </a:solidFill>
                <a:latin typeface="Montserrat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" y="3287268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Google Maps / Business Profile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" y="3593592"/>
            <a:ext cx="3657600" cy="3383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47472" y="3593592"/>
            <a:ext cx="45720" cy="338328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8912" y="3648456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60"/>
                </a:solidFill>
                <a:latin typeface="Montserrat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" y="3648456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Unificación de marca en plataformas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" y="3954780"/>
            <a:ext cx="36576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47472" y="3954780"/>
            <a:ext cx="45720" cy="338328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8912" y="4009644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60"/>
                </a:solidFill>
                <a:latin typeface="Montserrat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4009644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Actualizaciones web (hasta 3hs/mes)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7472" y="4315968"/>
            <a:ext cx="3657600" cy="3383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47472" y="4315968"/>
            <a:ext cx="45720" cy="338328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38912" y="4370832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60"/>
                </a:solidFill>
                <a:latin typeface="Montserrat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4370832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Reporte mensual básico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7472" y="4677156"/>
            <a:ext cx="36576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47472" y="4677156"/>
            <a:ext cx="45720" cy="338328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8912" y="4732020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  <a:latin typeface="Montserrat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4732020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0A0"/>
                </a:solidFill>
                <a:latin typeface="Montserrat"/>
              </a:rPr>
              <a:t>Google Ads + Meta Ads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7472" y="5038344"/>
            <a:ext cx="3657600" cy="3383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47472" y="5038344"/>
            <a:ext cx="45720" cy="338328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38912" y="5093208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  <a:latin typeface="Montserrat"/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5093208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0A0"/>
                </a:solidFill>
                <a:latin typeface="Montserrat"/>
              </a:rPr>
              <a:t>LinkedIn + TikTok activo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7472" y="5399532"/>
            <a:ext cx="36576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347472" y="5399532"/>
            <a:ext cx="45720" cy="338328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38912" y="5454396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  <a:latin typeface="Montserrat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6656" y="5454396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0A0"/>
                </a:solidFill>
                <a:latin typeface="Montserrat"/>
              </a:rPr>
              <a:t>SEO técnico mensual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7472" y="5760720"/>
            <a:ext cx="3657600" cy="3383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347472" y="5760720"/>
            <a:ext cx="45720" cy="338328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38912" y="5815584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  <a:latin typeface="Montserrat"/>
              </a:rPr>
              <a:t>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6656" y="5815584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0A0"/>
                </a:solidFill>
                <a:latin typeface="Montserrat"/>
              </a:rPr>
              <a:t>Email marketing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47472" y="6121908"/>
            <a:ext cx="36576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47472" y="6121908"/>
            <a:ext cx="45720" cy="338328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38912" y="6176772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  <a:latin typeface="Montserrat"/>
              </a:rPr>
              <a:t>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6656" y="6176772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0A0"/>
                </a:solidFill>
                <a:latin typeface="Montserrat"/>
              </a:rPr>
              <a:t>Dashboard en tiempo real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51960" y="969264"/>
            <a:ext cx="3657600" cy="201168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297680" y="978408"/>
            <a:ext cx="3566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300CC"/>
                </a:solidFill>
                <a:latin typeface="Montserrat"/>
              </a:rPr>
              <a:t>★  RECOMENDADO  ★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51960" y="1170432"/>
            <a:ext cx="3657600" cy="384048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297680" y="1188720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PRO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251960" y="1554480"/>
            <a:ext cx="3657600" cy="530352"/>
          </a:xfrm>
          <a:prstGeom prst="rect">
            <a:avLst/>
          </a:prstGeom>
          <a:solidFill>
            <a:srgbClr val="44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297680" y="1609344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ontserrat"/>
              </a:rPr>
              <a:t>$1.000 USD/mes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251960" y="2148840"/>
            <a:ext cx="3657600" cy="3383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4251960" y="2148840"/>
            <a:ext cx="45720" cy="338328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343400" y="2203704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60"/>
                </a:solidFill>
                <a:latin typeface="Montserrat"/>
              </a:rPr>
              <a:t>✓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81144" y="2203704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Todo lo de Starter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251960" y="2510028"/>
            <a:ext cx="36576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251960" y="2510028"/>
            <a:ext cx="45720" cy="338328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343400" y="2564892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60"/>
                </a:solidFill>
                <a:latin typeface="Montserrat"/>
              </a:rPr>
              <a:t>✓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81144" y="2564892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Google Ads (Search + Display)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251960" y="2871216"/>
            <a:ext cx="3657600" cy="3383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4251960" y="2871216"/>
            <a:ext cx="45720" cy="338328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343400" y="2926080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60"/>
                </a:solidFill>
                <a:latin typeface="Montserrat"/>
              </a:rPr>
              <a:t>✓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581144" y="2926080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Meta Ads (Facebook + Instagram)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251960" y="3232404"/>
            <a:ext cx="36576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4251960" y="3232404"/>
            <a:ext cx="45720" cy="338328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343400" y="3287268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60"/>
                </a:solidFill>
                <a:latin typeface="Montserrat"/>
              </a:rPr>
              <a:t>✓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81144" y="3287268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LinkedIn + TikTok activo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251960" y="3593592"/>
            <a:ext cx="3657600" cy="3383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4251960" y="3593592"/>
            <a:ext cx="45720" cy="338328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343400" y="3648456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60"/>
                </a:solidFill>
                <a:latin typeface="Montserrat"/>
              </a:rPr>
              <a:t>✓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581144" y="3648456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SEO técnico mensual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251960" y="3954780"/>
            <a:ext cx="36576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4251960" y="3954780"/>
            <a:ext cx="45720" cy="338328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4343400" y="4009644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60"/>
                </a:solidFill>
                <a:latin typeface="Montserrat"/>
              </a:rPr>
              <a:t>✓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81144" y="4009644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Gestión de reputación online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251960" y="4315968"/>
            <a:ext cx="3657600" cy="3383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4251960" y="4315968"/>
            <a:ext cx="45720" cy="338328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4343400" y="4370832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60"/>
                </a:solidFill>
                <a:latin typeface="Montserrat"/>
              </a:rPr>
              <a:t>✓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581144" y="4370832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Reporte ejecutivo mensual con KPIs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251960" y="4677156"/>
            <a:ext cx="36576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4251960" y="4677156"/>
            <a:ext cx="45720" cy="338328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4343400" y="4732020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00B060"/>
                </a:solidFill>
                <a:latin typeface="Montserrat"/>
              </a:rPr>
              <a:t>✓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581144" y="4732020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Actualizaciones web (hasta 6hs/mes)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251960" y="5038344"/>
            <a:ext cx="3657600" cy="3383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4251960" y="5038344"/>
            <a:ext cx="45720" cy="338328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4343400" y="5093208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  <a:latin typeface="Montserrat"/>
              </a:rPr>
              <a:t>—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581144" y="5093208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0A0"/>
                </a:solidFill>
                <a:latin typeface="Montserrat"/>
              </a:rPr>
              <a:t>Email marketing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251960" y="5399532"/>
            <a:ext cx="36576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4251960" y="5399532"/>
            <a:ext cx="45720" cy="338328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4343400" y="5454396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  <a:latin typeface="Montserrat"/>
              </a:rPr>
              <a:t>—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581144" y="5454396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0A0"/>
                </a:solidFill>
                <a:latin typeface="Montserrat"/>
              </a:rPr>
              <a:t>Dashboard en tiempo real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251960" y="5760720"/>
            <a:ext cx="3657600" cy="3383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4251960" y="5760720"/>
            <a:ext cx="45720" cy="338328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4343400" y="5815584"/>
            <a:ext cx="2377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000" b="1" dirty="0">
                <a:solidFill>
                  <a:srgbClr val="00B060"/>
                </a:solidFill>
                <a:latin typeface="Montserrat"/>
              </a:rPr>
              <a:t>✓</a:t>
            </a:r>
          </a:p>
          <a:p>
            <a:pPr algn="l"/>
            <a:endParaRPr sz="1000" b="0" i="0" dirty="0">
              <a:solidFill>
                <a:srgbClr val="A0A0A0"/>
              </a:solidFill>
              <a:latin typeface="Montserrat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4581144" y="5815584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i="0" dirty="0" err="1">
                <a:latin typeface="Montserrat"/>
              </a:rPr>
              <a:t>Consultoría</a:t>
            </a:r>
            <a:r>
              <a:rPr sz="950" i="0" dirty="0">
                <a:latin typeface="Montserrat"/>
              </a:rPr>
              <a:t> </a:t>
            </a:r>
            <a:r>
              <a:rPr sz="950" i="0" dirty="0" err="1">
                <a:latin typeface="Montserrat"/>
              </a:rPr>
              <a:t>estratégica</a:t>
            </a:r>
            <a:r>
              <a:rPr sz="950" i="0" dirty="0">
                <a:latin typeface="Montserrat"/>
              </a:rPr>
              <a:t> </a:t>
            </a:r>
            <a:r>
              <a:rPr lang="en-US" sz="950" i="0" dirty="0" err="1">
                <a:latin typeface="Montserrat"/>
              </a:rPr>
              <a:t>mensual</a:t>
            </a:r>
            <a:endParaRPr sz="950" i="0" dirty="0">
              <a:latin typeface="Montserrat"/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4251960" y="6121908"/>
            <a:ext cx="36576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4251960" y="6121908"/>
            <a:ext cx="45720" cy="338328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4343400" y="6176772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  <a:latin typeface="Montserrat"/>
              </a:rPr>
              <a:t>—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581144" y="6176772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0A0"/>
                </a:solidFill>
                <a:latin typeface="Montserrat"/>
              </a:rPr>
              <a:t>Edición pro videos (hasta 8/mes)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156448" y="1170432"/>
            <a:ext cx="3657600" cy="384048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8202168" y="1188720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FULL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156448" y="1554480"/>
            <a:ext cx="3657600" cy="530352"/>
          </a:xfrm>
          <a:prstGeom prst="rect">
            <a:avLst/>
          </a:prstGeom>
          <a:solidFill>
            <a:srgbClr val="22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8202168" y="1609344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ontserrat"/>
              </a:rPr>
              <a:t>$1.600 USD/mes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156448" y="2148840"/>
            <a:ext cx="3657600" cy="3383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8156448" y="2148840"/>
            <a:ext cx="45720" cy="338328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8247888" y="2203704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60"/>
                </a:solidFill>
                <a:latin typeface="Montserrat"/>
              </a:rPr>
              <a:t>✓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485632" y="2203704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Todo lo de Pro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156448" y="2510028"/>
            <a:ext cx="36576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8156448" y="2510028"/>
            <a:ext cx="45720" cy="338328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8247888" y="2564892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60"/>
                </a:solidFill>
                <a:latin typeface="Montserrat"/>
              </a:rPr>
              <a:t>✓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485632" y="2564892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Edición pro videos CM (hasta 8/mes)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156448" y="2871216"/>
            <a:ext cx="3657600" cy="3383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8156448" y="2871216"/>
            <a:ext cx="45720" cy="338328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8247888" y="2926080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60"/>
                </a:solidFill>
                <a:latin typeface="Montserrat"/>
              </a:rPr>
              <a:t>✓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485632" y="2926080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Email marketing + automatizaciones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156448" y="3232404"/>
            <a:ext cx="36576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8156448" y="3232404"/>
            <a:ext cx="45720" cy="338328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8247888" y="3287268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60"/>
                </a:solidFill>
                <a:latin typeface="Montserrat"/>
              </a:rPr>
              <a:t>✓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485632" y="3287268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Dashboard en tiempo real (Looker)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156448" y="3593592"/>
            <a:ext cx="3657600" cy="3383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8156448" y="3593592"/>
            <a:ext cx="45720" cy="338328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8247888" y="3648456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60"/>
                </a:solidFill>
                <a:latin typeface="Montserrat"/>
              </a:rPr>
              <a:t>✓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485632" y="3648456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Blog (2 artículos/mes)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8156448" y="3954780"/>
            <a:ext cx="36576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8156448" y="3954780"/>
            <a:ext cx="45720" cy="338328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8247888" y="4009644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60"/>
                </a:solidFill>
                <a:latin typeface="Montserrat"/>
              </a:rPr>
              <a:t>✓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485632" y="4009644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Consultoría estratégica quincenal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8156448" y="4315968"/>
            <a:ext cx="3657600" cy="3383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8156448" y="4315968"/>
            <a:ext cx="45720" cy="338328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8247888" y="4370832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60"/>
                </a:solidFill>
                <a:latin typeface="Montserrat"/>
              </a:rPr>
              <a:t>✓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8485632" y="4370832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Actualizaciones web sin límite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8156448" y="4677156"/>
            <a:ext cx="36576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ectangle 144"/>
          <p:cNvSpPr/>
          <p:nvPr/>
        </p:nvSpPr>
        <p:spPr>
          <a:xfrm>
            <a:off x="8156448" y="4677156"/>
            <a:ext cx="45720" cy="338328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8247888" y="4732020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60"/>
                </a:solidFill>
                <a:latin typeface="Montserrat"/>
              </a:rPr>
              <a:t>✓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485632" y="4732020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Prioridad de soporte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8156448" y="5038344"/>
            <a:ext cx="3657600" cy="3383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8156448" y="5038344"/>
            <a:ext cx="45720" cy="338328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8247888" y="5093208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60"/>
                </a:solidFill>
                <a:latin typeface="Montserrat"/>
              </a:rPr>
              <a:t>✓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485632" y="5093208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 err="1">
                <a:solidFill>
                  <a:srgbClr val="000000"/>
                </a:solidFill>
                <a:latin typeface="Montserrat"/>
              </a:rPr>
              <a:t>Reunión</a:t>
            </a:r>
            <a:r>
              <a:rPr sz="950" b="0" i="0" dirty="0">
                <a:solidFill>
                  <a:srgbClr val="000000"/>
                </a:solidFill>
                <a:latin typeface="Montserrat"/>
              </a:rPr>
              <a:t> </a:t>
            </a:r>
            <a:r>
              <a:rPr sz="950" b="0" i="0" dirty="0" err="1">
                <a:solidFill>
                  <a:srgbClr val="000000"/>
                </a:solidFill>
                <a:latin typeface="Montserrat"/>
              </a:rPr>
              <a:t>estratégica</a:t>
            </a:r>
            <a:r>
              <a:rPr sz="950" b="0" i="0" dirty="0">
                <a:solidFill>
                  <a:srgbClr val="000000"/>
                </a:solidFill>
                <a:latin typeface="Montserrat"/>
              </a:rPr>
              <a:t> </a:t>
            </a:r>
            <a:r>
              <a:rPr sz="950" b="0" i="0" dirty="0" err="1">
                <a:solidFill>
                  <a:srgbClr val="000000"/>
                </a:solidFill>
                <a:latin typeface="Montserrat"/>
              </a:rPr>
              <a:t>mensual</a:t>
            </a:r>
            <a:endParaRPr sz="950" b="0" i="0" dirty="0">
              <a:solidFill>
                <a:srgbClr val="000000"/>
              </a:solidFill>
              <a:latin typeface="Montserrat"/>
            </a:endParaRPr>
          </a:p>
        </p:txBody>
      </p:sp>
      <p:sp>
        <p:nvSpPr>
          <p:cNvPr id="152" name="Rectangle 151"/>
          <p:cNvSpPr/>
          <p:nvPr/>
        </p:nvSpPr>
        <p:spPr>
          <a:xfrm>
            <a:off x="8156448" y="5399532"/>
            <a:ext cx="36576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8156448" y="5399532"/>
            <a:ext cx="45720" cy="338328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8247888" y="5454396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60"/>
                </a:solidFill>
                <a:latin typeface="Montserrat"/>
              </a:rPr>
              <a:t>✓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485632" y="5454396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SEO continuo avanzado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8156448" y="5760720"/>
            <a:ext cx="3657600" cy="3383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ectangle 156"/>
          <p:cNvSpPr/>
          <p:nvPr/>
        </p:nvSpPr>
        <p:spPr>
          <a:xfrm>
            <a:off x="8156448" y="5760720"/>
            <a:ext cx="45720" cy="338328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8247888" y="5815584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60"/>
                </a:solidFill>
                <a:latin typeface="Montserrat"/>
              </a:rPr>
              <a:t>✓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485632" y="5815584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Segmentación de audiencias avanzada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8156448" y="6121908"/>
            <a:ext cx="36576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ectangle 160"/>
          <p:cNvSpPr/>
          <p:nvPr/>
        </p:nvSpPr>
        <p:spPr>
          <a:xfrm>
            <a:off x="8156448" y="6121908"/>
            <a:ext cx="45720" cy="338328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8247888" y="6176772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60"/>
                </a:solidFill>
                <a:latin typeface="Montserrat"/>
              </a:rPr>
              <a:t>✓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8485632" y="6176772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Análisis de competencia mensual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274320" y="6547104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Montserrat"/>
              </a:rPr>
              <a:t>Confidencial · Boreal Marketing × Arevalo Tucumán · Auditoría Digital 2026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0360152" y="65471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2BDFF"/>
                </a:solidFill>
                <a:latin typeface="Montserrat"/>
              </a:rPr>
              <a:t>boreal.com.ar</a:t>
            </a:r>
          </a:p>
        </p:txBody>
      </p:sp>
      <p:pic>
        <p:nvPicPr>
          <p:cNvPr id="167" name="Picture 2">
            <a:extLst>
              <a:ext uri="{FF2B5EF4-FFF2-40B4-BE49-F238E27FC236}">
                <a16:creationId xmlns:a16="http://schemas.microsoft.com/office/drawing/2014/main" id="{34EC1EE4-F645-08A3-6B48-6EF56B69DC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6591" y="-111952"/>
            <a:ext cx="2230961" cy="1254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ontserrat"/>
              </a:rPr>
              <a:t>MÓDULOS OPCIONALES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2BDFF"/>
                </a:solidFill>
                <a:latin typeface="Montserrat"/>
              </a:rPr>
              <a:t>Se activan cuando el negocio lo pide · Se suman al plan base sin compromisos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1078992"/>
            <a:ext cx="5577840" cy="365760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06424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00CC"/>
                </a:solidFill>
                <a:latin typeface="Montserrat"/>
              </a:rPr>
              <a:t>🎬  ACTIVACIONES Y PRODUCCIÓN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1517904"/>
            <a:ext cx="5577840" cy="10241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7472" y="1517904"/>
            <a:ext cx="73152" cy="1024128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1609344"/>
            <a:ext cx="3840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3300CC"/>
                </a:solidFill>
                <a:latin typeface="Montserrat"/>
              </a:rPr>
              <a:t>🌐  </a:t>
            </a:r>
            <a:r>
              <a:rPr sz="1100" b="1" i="0" dirty="0" err="1">
                <a:solidFill>
                  <a:srgbClr val="3300CC"/>
                </a:solidFill>
                <a:latin typeface="Montserrat"/>
              </a:rPr>
              <a:t>Diseño</a:t>
            </a:r>
            <a:r>
              <a:rPr sz="1100" b="1" i="0" dirty="0">
                <a:solidFill>
                  <a:srgbClr val="3300CC"/>
                </a:solidFill>
                <a:latin typeface="Montserrat"/>
              </a:rPr>
              <a:t> Web </a:t>
            </a:r>
            <a:r>
              <a:rPr sz="1100" b="1" i="0" dirty="0" err="1">
                <a:solidFill>
                  <a:srgbClr val="3300CC"/>
                </a:solidFill>
                <a:latin typeface="Montserrat"/>
              </a:rPr>
              <a:t>Completo</a:t>
            </a:r>
            <a:r>
              <a:rPr lang="en-US" sz="1100" b="1" i="0" dirty="0">
                <a:solidFill>
                  <a:srgbClr val="3300CC"/>
                </a:solidFill>
                <a:latin typeface="Montserrat"/>
              </a:rPr>
              <a:t> WWW</a:t>
            </a:r>
            <a:endParaRPr sz="1100" b="1" i="0" dirty="0">
              <a:solidFill>
                <a:srgbClr val="3300CC"/>
              </a:solidFill>
              <a:latin typeface="Montserra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0352" y="1901952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  <a:latin typeface="Montserrat"/>
              </a:rPr>
              <a:t>Rediseño mobile-first bajo manual de marca. "Menos es más".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655064"/>
            <a:ext cx="1463040" cy="512064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07408" y="1673352"/>
            <a:ext cx="14264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ontserrat"/>
              </a:rPr>
              <a:t>$1.000 con plan
$1.500 sin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1956816"/>
            <a:ext cx="14264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12BDFF"/>
                </a:solidFill>
                <a:latin typeface="Montserrat"/>
              </a:rPr>
              <a:t>fee único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2615184"/>
            <a:ext cx="557784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47472" y="2615184"/>
            <a:ext cx="73152" cy="1024128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0352" y="2706624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00CC"/>
                </a:solidFill>
                <a:latin typeface="Montserrat"/>
              </a:rPr>
              <a:t>🎬  Producción Audiovisual Pro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2999232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  <a:latin typeface="Montserrat"/>
              </a:rPr>
              <a:t>Cámara profesional + drone + edición de estudio. Reels, spots.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2752344"/>
            <a:ext cx="1463040" cy="512064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07408" y="2770632"/>
            <a:ext cx="14264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ontserrat"/>
              </a:rPr>
              <a:t>Cotizar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3054096"/>
            <a:ext cx="14264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12BDFF"/>
                </a:solidFill>
                <a:latin typeface="Montserrat"/>
              </a:rPr>
              <a:t>por sesión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" y="3712464"/>
            <a:ext cx="5577840" cy="10241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47472" y="3712464"/>
            <a:ext cx="73152" cy="1024128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0352" y="3803904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00CC"/>
                </a:solidFill>
                <a:latin typeface="Montserrat"/>
              </a:rPr>
              <a:t>🎪  Activaciones en Calle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4096512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  <a:latin typeface="Montserrat"/>
              </a:rPr>
              <a:t>Diseño de eventos, materiales impresos, roll-ups, punto de venta.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3849624"/>
            <a:ext cx="1463040" cy="512064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07408" y="3867912"/>
            <a:ext cx="14264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ontserrat"/>
              </a:rPr>
              <a:t>Cotizar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07408" y="4151376"/>
            <a:ext cx="14264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12BDFF"/>
                </a:solidFill>
                <a:latin typeface="Montserrat"/>
              </a:rPr>
              <a:t>por evento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7472" y="4809744"/>
            <a:ext cx="557784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47472" y="4809744"/>
            <a:ext cx="73152" cy="1024128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0352" y="4901184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00CC"/>
                </a:solidFill>
                <a:latin typeface="Montserrat"/>
              </a:rPr>
              <a:t>📸  Fotografía Profesional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5193792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  <a:latin typeface="Montserrat"/>
              </a:rPr>
              <a:t>Sesión de equipo médico, sucursales y producto para web y redes.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89120" y="4946904"/>
            <a:ext cx="1463040" cy="512064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407408" y="4965192"/>
            <a:ext cx="14264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ontserrat"/>
              </a:rPr>
              <a:t>Cotizar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07408" y="5248656"/>
            <a:ext cx="14264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12BDFF"/>
                </a:solidFill>
                <a:latin typeface="Montserrat"/>
              </a:rPr>
              <a:t>por sesión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1078992"/>
            <a:ext cx="5577840" cy="365760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73368" y="1106424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00CC"/>
                </a:solidFill>
                <a:latin typeface="Montserrat"/>
              </a:rPr>
              <a:t>🤖  TECNOLOGÍA E INTEGRACIONES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1517904"/>
            <a:ext cx="5577840" cy="10241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263640" y="1517904"/>
            <a:ext cx="73152" cy="1024128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46520" y="1609344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00CC"/>
                </a:solidFill>
                <a:latin typeface="Montserrat"/>
              </a:rPr>
              <a:t>🔍  Setup Tracking Completo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1901952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  <a:latin typeface="Montserrat"/>
              </a:rPr>
              <a:t>GA4 + GTM + Meta Pixel + Conversiones Google Ads.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305288" y="1655064"/>
            <a:ext cx="1463040" cy="512064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323576" y="1673352"/>
            <a:ext cx="14264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ontserrat"/>
              </a:rPr>
              <a:t>$350 USD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23576" y="1956816"/>
            <a:ext cx="14264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12BDFF"/>
                </a:solidFill>
                <a:latin typeface="Montserrat"/>
              </a:rPr>
              <a:t>fee único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2615184"/>
            <a:ext cx="557784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263640" y="2615184"/>
            <a:ext cx="73152" cy="1024128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46520" y="2706624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00CC"/>
                </a:solidFill>
                <a:latin typeface="Montserrat"/>
              </a:rPr>
              <a:t>🔗  CRM Integration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2999232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  <a:latin typeface="Montserrat"/>
              </a:rPr>
              <a:t>Setup HubSpot/Zoho, pipeline de leads, automatización de seguimiento.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305288" y="2752344"/>
            <a:ext cx="1463040" cy="512064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323576" y="2770632"/>
            <a:ext cx="14264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ontserrat"/>
              </a:rPr>
              <a:t>Cotizar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23576" y="3054096"/>
            <a:ext cx="14264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12BDFF"/>
                </a:solidFill>
                <a:latin typeface="Montserrat"/>
              </a:rPr>
              <a:t>fee único + setup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63640" y="3712464"/>
            <a:ext cx="5577840" cy="10241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263640" y="3712464"/>
            <a:ext cx="73152" cy="1024128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46520" y="3803904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00CC"/>
                </a:solidFill>
                <a:latin typeface="Montserrat"/>
              </a:rPr>
              <a:t>🤖  Chatbot &amp; Atención 24hs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4096512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  <a:latin typeface="Montserrat"/>
              </a:rPr>
              <a:t>Bot WhatsApp/web, respuestas automáticas, calificación de leads.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305288" y="3849624"/>
            <a:ext cx="1463040" cy="512064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323576" y="3867912"/>
            <a:ext cx="14264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ontserrat"/>
              </a:rPr>
              <a:t>Cotizar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23576" y="4151376"/>
            <a:ext cx="14264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12BDFF"/>
                </a:solidFill>
                <a:latin typeface="Montserrat"/>
              </a:rPr>
              <a:t>fee mensual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63640" y="4809744"/>
            <a:ext cx="557784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263640" y="4809744"/>
            <a:ext cx="73152" cy="1024128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446520" y="4901184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00CC"/>
                </a:solidFill>
                <a:latin typeface="Montserrat"/>
              </a:rPr>
              <a:t>🧠  Agente Comercial AI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46520" y="5193792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  <a:latin typeface="Montserrat"/>
              </a:rPr>
              <a:t>Cierre automatizado de consultas, calificación y derivación al equipo.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305288" y="4946904"/>
            <a:ext cx="1463040" cy="512064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0323576" y="4965192"/>
            <a:ext cx="14264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ontserrat"/>
              </a:rPr>
              <a:t>Cotizar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323576" y="5248656"/>
            <a:ext cx="14264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12BDFF"/>
                </a:solidFill>
                <a:latin typeface="Montserrat"/>
              </a:rPr>
              <a:t>fee mensual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274320" y="6547104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Montserrat"/>
              </a:rPr>
              <a:t>Confidencial · Boreal Marketing × Arevalo Tucumán · Auditoría Digital 2026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360152" y="65471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2BDFF"/>
                </a:solidFill>
                <a:latin typeface="Montserrat"/>
              </a:rPr>
              <a:t>boreal.com.ar</a:t>
            </a:r>
          </a:p>
        </p:txBody>
      </p:sp>
      <p:pic>
        <p:nvPicPr>
          <p:cNvPr id="69" name="Picture 2">
            <a:extLst>
              <a:ext uri="{FF2B5EF4-FFF2-40B4-BE49-F238E27FC236}">
                <a16:creationId xmlns:a16="http://schemas.microsoft.com/office/drawing/2014/main" id="{7DC9D415-BB8F-797C-C107-1095D34788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6591" y="-111952"/>
            <a:ext cx="2230961" cy="1254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99832" y="0"/>
            <a:ext cx="4389120" cy="3017520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714232" y="3017520"/>
            <a:ext cx="3474720" cy="3840480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994392" y="1371600"/>
            <a:ext cx="2194560" cy="2286000"/>
          </a:xfrm>
          <a:prstGeom prst="rect">
            <a:avLst/>
          </a:prstGeom>
          <a:solidFill>
            <a:srgbClr val="22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56032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BDFF"/>
                </a:solidFill>
                <a:latin typeface="Montserrat"/>
              </a:rPr>
              <a:t>NUESTRA PROPUESTA PARA AREVALO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8368"/>
            <a:ext cx="7132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Montserrat"/>
              </a:rPr>
              <a:t>Empezamos con
lo que más impacta.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12848"/>
            <a:ext cx="3657600" cy="3611880"/>
          </a:xfrm>
          <a:prstGeom prst="rect">
            <a:avLst/>
          </a:prstGeom>
          <a:solidFill>
            <a:srgbClr val="22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2212848"/>
            <a:ext cx="91440" cy="3611880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32257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E67B4"/>
                </a:solidFill>
                <a:latin typeface="Montserrat"/>
              </a:rPr>
              <a:t>★  PLAN PRO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432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$1.000 USD/mes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310128"/>
            <a:ext cx="3364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Montserrat"/>
              </a:rPr>
              <a:t>✓  Gestión de contenido + diseño para redes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666744"/>
            <a:ext cx="3364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Montserrat"/>
              </a:rPr>
              <a:t>✓  Google Ads + Meta Ads gestionados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023360"/>
            <a:ext cx="3364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Montserrat"/>
              </a:rPr>
              <a:t>✓  LinkedIn + TikTok activos y unificados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379976"/>
            <a:ext cx="3364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Montserrat"/>
              </a:rPr>
              <a:t>✓  SEO técnico mensual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736592"/>
            <a:ext cx="3364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Montserrat"/>
              </a:rPr>
              <a:t>✓  Gestión de reputación y reseñas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093208"/>
            <a:ext cx="3364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Montserrat"/>
              </a:rPr>
              <a:t>✓  Reporte ejecutivo mensual con KPIs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07408" y="2212848"/>
            <a:ext cx="3474720" cy="1645920"/>
          </a:xfrm>
          <a:prstGeom prst="rect">
            <a:avLst/>
          </a:prstGeom>
          <a:solidFill>
            <a:srgbClr val="44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407408" y="2212848"/>
            <a:ext cx="73152" cy="1645920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90288" y="2322576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BDFF"/>
                </a:solidFill>
                <a:latin typeface="Montserrat"/>
              </a:rPr>
              <a:t>+ DISEÑO WEB COMPLETO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2706624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$1.000 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0288" y="3236976"/>
            <a:ext cx="3200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2BDFF"/>
                </a:solidFill>
                <a:latin typeface="Montserrat"/>
              </a:rPr>
              <a:t>Fee único · incluido en el primer mes
Rediseño bajo manual de marca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07408" y="4005072"/>
            <a:ext cx="3474720" cy="1645920"/>
          </a:xfrm>
          <a:prstGeom prst="rect">
            <a:avLst/>
          </a:prstGeom>
          <a:solidFill>
            <a:srgbClr val="44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07408" y="4005072"/>
            <a:ext cx="73152" cy="1645920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90288" y="4114800"/>
            <a:ext cx="3200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12BDFF"/>
                </a:solidFill>
                <a:latin typeface="Montserrat"/>
              </a:rPr>
              <a:t>+ SETUP TRACKING COMPLETO</a:t>
            </a:r>
            <a:endParaRPr lang="en-US" sz="1200" b="1" i="0" dirty="0">
              <a:solidFill>
                <a:srgbClr val="12BDFF"/>
              </a:solidFill>
              <a:latin typeface="Montserrat"/>
            </a:endParaRPr>
          </a:p>
          <a:p>
            <a:pPr algn="l"/>
            <a:r>
              <a:rPr lang="es-AR" sz="1200" b="1" dirty="0">
                <a:solidFill>
                  <a:srgbClr val="12BDFF"/>
                </a:solidFill>
                <a:latin typeface="Montserrat"/>
              </a:rPr>
              <a:t>Bonificado.</a:t>
            </a:r>
            <a:endParaRPr sz="1200" b="1" i="0" dirty="0">
              <a:solidFill>
                <a:srgbClr val="12BDFF"/>
              </a:solidFill>
              <a:latin typeface="Montserrat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90288" y="4498848"/>
            <a:ext cx="32004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strike="sngStrike" dirty="0">
                <a:solidFill>
                  <a:srgbClr val="FFFFFF"/>
                </a:solidFill>
                <a:latin typeface="Montserrat"/>
              </a:rPr>
              <a:t>$350 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0288" y="5029200"/>
            <a:ext cx="3200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000" b="0" i="1" dirty="0">
                <a:solidFill>
                  <a:srgbClr val="12BDFF"/>
                </a:solidFill>
                <a:latin typeface="Montserrat"/>
              </a:rPr>
              <a:t>Fee único · GA4 + GTM + Meta Pixel
+ Conversiones Google </a:t>
            </a:r>
            <a:r>
              <a:rPr lang="es-AR" sz="1000" b="0" i="1" dirty="0" err="1">
                <a:solidFill>
                  <a:srgbClr val="12BDFF"/>
                </a:solidFill>
                <a:latin typeface="Montserrat"/>
              </a:rPr>
              <a:t>Ads</a:t>
            </a:r>
            <a:endParaRPr sz="1000" b="0" i="1" dirty="0">
              <a:solidFill>
                <a:srgbClr val="12BDFF"/>
              </a:solidFill>
              <a:latin typeface="Montserrat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8138160" y="2212848"/>
            <a:ext cx="3657600" cy="3611880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138160" y="2212848"/>
            <a:ext cx="73152" cy="3611880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21040" y="2340864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00CC"/>
                </a:solidFill>
                <a:latin typeface="Montserrat"/>
              </a:rPr>
              <a:t>INVERSIÓN INICIAL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2724912"/>
            <a:ext cx="33832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3300CC"/>
                </a:solidFill>
                <a:latin typeface="Montserrat"/>
              </a:rPr>
              <a:t>$</a:t>
            </a:r>
            <a:r>
              <a:rPr lang="en-US" sz="3000" b="1" i="0" dirty="0">
                <a:solidFill>
                  <a:srgbClr val="3300CC"/>
                </a:solidFill>
                <a:latin typeface="Montserrat"/>
              </a:rPr>
              <a:t>2.000</a:t>
            </a:r>
            <a:r>
              <a:rPr sz="3000" b="1" i="0" dirty="0">
                <a:solidFill>
                  <a:srgbClr val="3300CC"/>
                </a:solidFill>
                <a:latin typeface="Montserrat"/>
              </a:rPr>
              <a:t> USD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334670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00CC"/>
                </a:solidFill>
                <a:latin typeface="Montserrat"/>
              </a:rPr>
              <a:t>mes 1 (web + tracking + gestión Pro)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21040" y="3712463"/>
            <a:ext cx="3200400" cy="19050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21040" y="3822191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00CC"/>
                </a:solidFill>
                <a:latin typeface="Montserrat"/>
              </a:rPr>
              <a:t>DESDE MES 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4151376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300CC"/>
                </a:solidFill>
                <a:latin typeface="Montserrat"/>
              </a:rPr>
              <a:t>$1.000 USD/mes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6634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00CC"/>
                </a:solidFill>
                <a:latin typeface="Montserrat"/>
              </a:rPr>
              <a:t>Plan Pro · sin costos fijos adicionales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6080760"/>
            <a:ext cx="11274552" cy="384048"/>
          </a:xfrm>
          <a:prstGeom prst="rect">
            <a:avLst/>
          </a:prstGeom>
          <a:solidFill>
            <a:srgbClr val="22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1792" y="6126480"/>
            <a:ext cx="10908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2BDFF"/>
                </a:solidFill>
                <a:latin typeface="Montserrat"/>
              </a:rPr>
              <a:t>⚡  La pauta publicitaria (Google Ads + Meta Ads) es adicional y queda a cargo del cliente. El presupuesto óptimo se define en la reunión de kickoff.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74320" y="6547104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Montserrat"/>
              </a:rPr>
              <a:t>Confidencial · Boreal Marketing × Arevalo Tucumán · Auditoría Digital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60152" y="65471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2BDFF"/>
                </a:solidFill>
                <a:latin typeface="Montserrat"/>
              </a:rPr>
              <a:t>boreal.com.ar</a:t>
            </a:r>
          </a:p>
        </p:txBody>
      </p:sp>
      <p:pic>
        <p:nvPicPr>
          <p:cNvPr id="43" name="Picture 2">
            <a:extLst>
              <a:ext uri="{FF2B5EF4-FFF2-40B4-BE49-F238E27FC236}">
                <a16:creationId xmlns:a16="http://schemas.microsoft.com/office/drawing/2014/main" id="{FE3AAFAE-4BD7-0AF6-B65B-1D5A333FE8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4699" y="45867"/>
            <a:ext cx="1836613" cy="103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ontserrat"/>
              </a:rPr>
              <a:t>CONCEPTO DE REDISEÑO — NUEVA HOME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2BDFF"/>
                </a:solidFill>
                <a:latin typeface="Montserrat"/>
              </a:rPr>
              <a:t>Estructura propuesta · Mobile-first · Bifurcada por audiencia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78992"/>
            <a:ext cx="5303520" cy="292608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Montserrat"/>
              </a:rPr>
              <a:t>LOGO   |   Cobertura   Sucursales   Afiliarse   🚨 Emergencias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89888"/>
            <a:ext cx="5303520" cy="1325880"/>
          </a:xfrm>
          <a:prstGeom prst="rect">
            <a:avLst/>
          </a:prstGeom>
          <a:solidFill>
            <a:srgbClr val="2A0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1444752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2BDFF"/>
                </a:solidFill>
                <a:latin typeface="Montserrat"/>
              </a:rPr>
              <a:t>HERO: Propuesta de valor + imagen real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73936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Montserrat"/>
              </a:rPr>
              <a:t>"La cobertura médica de Tucumán.
En tu ciudad. Con tu médico. 24 horas."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231136"/>
            <a:ext cx="2194560" cy="310896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27685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300CC"/>
                </a:solidFill>
                <a:latin typeface="Montserrat"/>
              </a:rPr>
              <a:t>Quiero afiliarme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2231136"/>
            <a:ext cx="2194560" cy="310896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99232" y="227685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300CC"/>
                </a:solidFill>
                <a:latin typeface="Montserrat"/>
              </a:rPr>
              <a:t>Ya soy afiliado  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43200"/>
            <a:ext cx="5303520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2761488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333333"/>
                </a:solidFill>
                <a:latin typeface="Montserrat"/>
              </a:rPr>
              <a:t>SECCIÓN: Por qué Arevalo — 4 stats (25 años · 24 esp. · 5 sedes · App propia)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017520"/>
            <a:ext cx="530352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309067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333333"/>
                </a:solidFill>
                <a:latin typeface="Montserrat"/>
              </a:rPr>
              <a:t>SECCIÓN: Cobertura médica — Cards por especialidad + botón turno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547872"/>
            <a:ext cx="530352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3602736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333333"/>
                </a:solidFill>
                <a:latin typeface="Montserrat"/>
              </a:rPr>
              <a:t>SECCIÓN: Sucursales en toda la provincia — Mapa interactivo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59352"/>
            <a:ext cx="530352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4014215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333333"/>
                </a:solidFill>
                <a:latin typeface="Montserrat"/>
              </a:rPr>
              <a:t>SECCIÓN: Testimonios de afiliados — carrusel de historias reales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370832"/>
            <a:ext cx="530352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4425696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333333"/>
                </a:solidFill>
                <a:latin typeface="Montserrat"/>
              </a:rPr>
              <a:t>SECCIÓN: App Arevalo — Descargala y sacá turnos en 2 minutos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773168"/>
            <a:ext cx="5303520" cy="365760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4828032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Montserrat"/>
              </a:rPr>
              <a:t>Footer — Emergencias siempre visible · Redes · Datos de contacto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1078992"/>
            <a:ext cx="5394960" cy="347472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0" y="109728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ontserrat"/>
              </a:rPr>
              <a:t>NOTAS DE DISEÑO Y ESTRATEGIA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1499616"/>
            <a:ext cx="5394960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00800" y="1499616"/>
            <a:ext cx="54864" cy="621792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37960" y="154533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00CC"/>
                </a:solidFill>
                <a:latin typeface="Montserrat"/>
              </a:rPr>
              <a:t>🎯  Hero estático, no carrusel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180136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333333"/>
                </a:solidFill>
                <a:latin typeface="Montserrat"/>
              </a:rPr>
              <a:t>Una sola imagen de impacto. Un solo mensaje principal. Dos CTAs claros.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2157984"/>
            <a:ext cx="53949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400800" y="2157984"/>
            <a:ext cx="54864" cy="621792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37960" y="220370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00CC"/>
                </a:solidFill>
                <a:latin typeface="Montserrat"/>
              </a:rPr>
              <a:t>👥  Bifurcación en el primer scroll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245973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333333"/>
                </a:solidFill>
                <a:latin typeface="Montserrat"/>
              </a:rPr>
              <a:t>El usuario elige su recorrido desde el hero: nuevo afiliado o afiliado actual.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2816352"/>
            <a:ext cx="5394960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400800" y="2816352"/>
            <a:ext cx="54864" cy="621792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37960" y="286207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00CC"/>
                </a:solidFill>
                <a:latin typeface="Montserrat"/>
              </a:rPr>
              <a:t>📊  Datos que generan confianza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311810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333333"/>
                </a:solidFill>
                <a:latin typeface="Montserrat"/>
              </a:rPr>
              <a:t>25 años · X afiliados · 24 especialidades · 5 sucursales. En el hero o inmediatamente abajo.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3474720"/>
            <a:ext cx="53949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400800" y="3474720"/>
            <a:ext cx="54864" cy="621792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37960" y="352044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00CC"/>
                </a:solidFill>
                <a:latin typeface="Montserrat"/>
              </a:rPr>
              <a:t>🚨  Emergencias siempre visible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377647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333333"/>
                </a:solidFill>
                <a:latin typeface="Montserrat"/>
              </a:rPr>
              <a:t>El número 430-7878 debe estar en el header fijo (sticky), visible en cualquier scroll.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4133088"/>
            <a:ext cx="5394960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400800" y="4133088"/>
            <a:ext cx="54864" cy="621792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37960" y="417880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00CC"/>
                </a:solidFill>
                <a:latin typeface="Montserrat"/>
              </a:rPr>
              <a:t>📱  Mobile-first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37960" y="44348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333333"/>
                </a:solidFill>
                <a:latin typeface="Montserrat"/>
              </a:rPr>
              <a:t>El 70%+ del tráfico en salud es desde celular. Diseño desde mobile hacia desktop.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0" y="4791456"/>
            <a:ext cx="53949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400800" y="4791456"/>
            <a:ext cx="54864" cy="621792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537960" y="483717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00CC"/>
                </a:solidFill>
                <a:latin typeface="Montserrat"/>
              </a:rPr>
              <a:t>💬  Testimonios con foto real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7960" y="509320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333333"/>
                </a:solidFill>
                <a:latin typeface="Montserrat"/>
              </a:rPr>
              <a:t>No íconos genéricos. Foto del afiliado + nombre + ciudad + historia breve.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0" y="5449824"/>
            <a:ext cx="5394960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400800" y="5449824"/>
            <a:ext cx="54864" cy="621792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537960" y="549554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00CC"/>
                </a:solidFill>
                <a:latin typeface="Montserrat"/>
              </a:rPr>
              <a:t>🗺️  Mapa de sucursales interactivo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37960" y="575157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333333"/>
                </a:solidFill>
                <a:latin typeface="Montserrat"/>
              </a:rPr>
              <a:t>Concepción, Monteros, Aguilares, Alberdi — cada una con dirección y horario.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74320" y="6547104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Montserrat"/>
              </a:rPr>
              <a:t>Confidencial · Boreal Marketing × Arevalo Tucumán · Auditoría Digital 2026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60152" y="65471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2BDFF"/>
                </a:solidFill>
                <a:latin typeface="Montserrat"/>
              </a:rPr>
              <a:t>boreal.com.ar</a:t>
            </a:r>
          </a:p>
        </p:txBody>
      </p:sp>
      <p:pic>
        <p:nvPicPr>
          <p:cNvPr id="60" name="Picture 2">
            <a:extLst>
              <a:ext uri="{FF2B5EF4-FFF2-40B4-BE49-F238E27FC236}">
                <a16:creationId xmlns:a16="http://schemas.microsoft.com/office/drawing/2014/main" id="{3B151A75-26CF-AA74-3CB0-E26D4678D0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6591" y="-111952"/>
            <a:ext cx="2230961" cy="1254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159752" y="0"/>
            <a:ext cx="5029200" cy="3429000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074152" y="3429000"/>
            <a:ext cx="4114800" cy="3429000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445752" y="1371600"/>
            <a:ext cx="2743200" cy="2286000"/>
          </a:xfrm>
          <a:prstGeom prst="rect">
            <a:avLst/>
          </a:prstGeom>
          <a:solidFill>
            <a:srgbClr val="22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Montserrat"/>
              </a:rPr>
              <a:t>EL DIAGNÓSTICO ESTÁ.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64208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E67B4"/>
                </a:solidFill>
                <a:latin typeface="Montserrat"/>
              </a:rPr>
              <a:t>El plan también.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33472"/>
            <a:ext cx="7132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  <a:latin typeface="Montserrat"/>
              </a:rPr>
              <a:t>El próximo paso es una conversación de 30 minutos
para arrancar con las acciones críticas.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520440"/>
            <a:ext cx="6309360" cy="347472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3547872"/>
            <a:ext cx="6126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00CC"/>
                </a:solidFill>
                <a:latin typeface="Montserrat"/>
              </a:rPr>
              <a:t>LO QUE INCLUYE TRABAJAR CON BOREAL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931920"/>
            <a:ext cx="6309360" cy="384048"/>
          </a:xfrm>
          <a:prstGeom prst="rect">
            <a:avLst/>
          </a:prstGeom>
          <a:solidFill>
            <a:srgbClr val="22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3931920"/>
            <a:ext cx="54864" cy="384048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3504" y="4005072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ontserrat"/>
              </a:rPr>
              <a:t>✓  Rediseño web orientado a conversión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352544"/>
            <a:ext cx="6309360" cy="384048"/>
          </a:xfrm>
          <a:prstGeom prst="rect">
            <a:avLst/>
          </a:prstGeom>
          <a:solidFill>
            <a:srgbClr val="2A0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4352544"/>
            <a:ext cx="54864" cy="384048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3504" y="4425696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ontserrat"/>
              </a:rPr>
              <a:t>✓  Setup de tracking completo (GA4 + GTM + Pixel)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773168"/>
            <a:ext cx="6309360" cy="384048"/>
          </a:xfrm>
          <a:prstGeom prst="rect">
            <a:avLst/>
          </a:prstGeom>
          <a:solidFill>
            <a:srgbClr val="22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4773168"/>
            <a:ext cx="54864" cy="384048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3504" y="4846320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ontserrat"/>
              </a:rPr>
              <a:t>✓  Campañas Google Ads + Meta Ads con gestión mensual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193792"/>
            <a:ext cx="6309360" cy="384048"/>
          </a:xfrm>
          <a:prstGeom prst="rect">
            <a:avLst/>
          </a:prstGeom>
          <a:solidFill>
            <a:srgbClr val="2A0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5193792"/>
            <a:ext cx="54864" cy="384048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3504" y="5266944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ontserrat"/>
              </a:rPr>
              <a:t>✓  Estrategia y producción de contenido para redes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614416"/>
            <a:ext cx="6309360" cy="384048"/>
          </a:xfrm>
          <a:prstGeom prst="rect">
            <a:avLst/>
          </a:prstGeom>
          <a:solidFill>
            <a:srgbClr val="22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5614416"/>
            <a:ext cx="54864" cy="384048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3504" y="5687568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ontserrat"/>
              </a:rPr>
              <a:t>✓  Reportes ejecutivos mensuales con KPIs reales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40880" y="3749039"/>
            <a:ext cx="4663440" cy="457200"/>
          </a:xfrm>
          <a:prstGeom prst="rect">
            <a:avLst/>
          </a:prstGeom>
          <a:solidFill>
            <a:srgbClr val="22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040880" y="3749039"/>
            <a:ext cx="73152" cy="457200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05472" y="3822191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BDFF"/>
                </a:solidFill>
                <a:latin typeface="Montserrat"/>
              </a:rPr>
              <a:t>Javier Bertucci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3858767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FFFFFF"/>
                </a:solidFill>
                <a:latin typeface="Montserrat"/>
              </a:rPr>
              <a:t>CEO — Boreal Marketing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40880" y="4297679"/>
            <a:ext cx="4663440" cy="457200"/>
          </a:xfrm>
          <a:prstGeom prst="rect">
            <a:avLst/>
          </a:prstGeom>
          <a:solidFill>
            <a:srgbClr val="22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040880" y="4297679"/>
            <a:ext cx="73152" cy="457200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205472" y="4370831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BDFF"/>
                </a:solidFill>
                <a:latin typeface="Montserrat"/>
              </a:rPr>
              <a:t>+54 9 11 3104-0042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4407407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FFFFFF"/>
                </a:solidFill>
                <a:latin typeface="Montserrat"/>
              </a:rPr>
              <a:t>WhatsApp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40880" y="4846319"/>
            <a:ext cx="4663440" cy="457200"/>
          </a:xfrm>
          <a:prstGeom prst="rect">
            <a:avLst/>
          </a:prstGeom>
          <a:solidFill>
            <a:srgbClr val="22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040880" y="4846319"/>
            <a:ext cx="73152" cy="457200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205472" y="4919471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BDFF"/>
                </a:solidFill>
                <a:latin typeface="Montserrat"/>
              </a:rPr>
              <a:t>jbertucci@boreal.com.ar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956047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FFFFFF"/>
                </a:solidFill>
                <a:latin typeface="Montserrat"/>
              </a:rPr>
              <a:t>Email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74320" y="6547104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Montserrat"/>
              </a:rPr>
              <a:t>Confidencial · Boreal Marketing × Arevalo Tucumán · Auditoría Digital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60152" y="65471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2BDFF"/>
                </a:solidFill>
                <a:latin typeface="Montserrat"/>
              </a:rPr>
              <a:t>boreal.com.ar</a:t>
            </a:r>
          </a:p>
        </p:txBody>
      </p:sp>
      <p:pic>
        <p:nvPicPr>
          <p:cNvPr id="43" name="Picture 2">
            <a:extLst>
              <a:ext uri="{FF2B5EF4-FFF2-40B4-BE49-F238E27FC236}">
                <a16:creationId xmlns:a16="http://schemas.microsoft.com/office/drawing/2014/main" id="{F09248CF-DE54-FB95-A789-C4CFF03139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1040" y="1162696"/>
            <a:ext cx="5410586" cy="3043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3051</Words>
  <Application>Microsoft Macintosh PowerPoint</Application>
  <PresentationFormat>Personalizado</PresentationFormat>
  <Paragraphs>518</Paragraphs>
  <Slides>15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Aptos</vt:lpstr>
      <vt:lpstr>Arial</vt:lpstr>
      <vt:lpstr>Calibri</vt:lpstr>
      <vt:lpstr>Montserrat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Sistemas IT</cp:lastModifiedBy>
  <cp:revision>2</cp:revision>
  <dcterms:created xsi:type="dcterms:W3CDTF">2013-01-27T09:14:16Z</dcterms:created>
  <dcterms:modified xsi:type="dcterms:W3CDTF">2026-03-17T17:52:33Z</dcterms:modified>
  <cp:category/>
</cp:coreProperties>
</file>