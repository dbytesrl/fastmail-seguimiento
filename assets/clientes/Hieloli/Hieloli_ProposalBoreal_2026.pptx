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59752" y="0"/>
            <a:ext cx="5029200" cy="37719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74152" y="3771900"/>
            <a:ext cx="4114800" cy="30861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45752" y="1371600"/>
            <a:ext cx="2743200" cy="22860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2BDFF"/>
                </a:solidFill>
                <a:latin typeface="Montserrat"/>
              </a:rPr>
              <a:t>BOREAL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804672"/>
            <a:ext cx="2286000" cy="3175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058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ontserrat"/>
              </a:rPr>
              <a:t>Lo que construiste
merece llegar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E67B4"/>
                </a:solidFill>
                <a:latin typeface="Montserrat"/>
              </a:rPr>
              <a:t>a muchos más.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  <a:latin typeface="Montserrat"/>
              </a:rPr>
              <a:t>Una mirada estratégica sobre el potencial de crecimiento
digital de Hieloli — y cómo activarlo.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897880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0A0"/>
                </a:solidFill>
                <a:latin typeface="Montserrat"/>
              </a:rPr>
              <a:t>Preparado para HIELOLI · Marzo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UNA EMPRESA CONSTRUIDA PARA DURAR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Antes de hablar de futuro, hay que reconocer lo que ya existe.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11457432" cy="9144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1109167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12BDFF"/>
                </a:solidFill>
                <a:latin typeface="Montserrat"/>
              </a:rPr>
              <a:t>Hieloli no es un emprendimiento. Es una operación industrial consolidada con décadas de trayectoria.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212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212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🏭  Dos plantas productivas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688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Pontevedra y Junín — capacidad industrial real.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2212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212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286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🚛  Flota propia refrigerada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88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Distribución directa sin depender de terceros.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55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55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📅  365 días al año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31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Sin cortes. La confiabilidad que el mercado valora.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55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355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3429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🧊  Línea completa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831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Hielo, jugos naturales, agua de mesa. Un solo proveedor.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498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498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572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📋  Calidad certificada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974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Análisis mensuales. Estándares que pocos en el rubro tienen.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4498848"/>
            <a:ext cx="557784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4498848"/>
            <a:ext cx="73152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300CC"/>
                </a:solidFill>
                <a:latin typeface="Montserrat"/>
              </a:rPr>
              <a:t>🤝  Comodato de freezers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974336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0000"/>
                </a:solidFill>
                <a:latin typeface="Montserrat"/>
              </a:rPr>
              <a:t>Un modelo de negocio que fideliza clientes automáticamente.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6355080"/>
            <a:ext cx="11274552" cy="254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>
                <a:solidFill>
                  <a:srgbClr val="3300CC"/>
                </a:solidFill>
                <a:latin typeface="Montserrat"/>
              </a:rPr>
              <a:t>Esta base es el activo más importante. El marketing digital es la capa que la hace visible para todo el mercado.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HAY CLIENTES BUSCANDO EXACTAMENTE LO QUE TIENEN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Estas búsquedas ocurren todos los días en Buenos Aires y alrededores.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78992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A0A0"/>
                </a:solidFill>
                <a:latin typeface="Montserrat"/>
              </a:rPr>
              <a:t>El producto existe. La demanda existe. Solo hace falta el puente digital que los conecte.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06908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BÚSQUEDA ACTIVA EN GOOGLE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26280" y="1508760"/>
            <a:ext cx="224028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270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TIPO DE CLIENTE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1508760"/>
            <a:ext cx="196596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152704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POTENCIAL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15400" y="1508760"/>
            <a:ext cx="315468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15270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Montserrat"/>
              </a:rPr>
              <a:t>OPORTUNIDAD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947672"/>
            <a:ext cx="40690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0025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hielo por mayor Buenos Aires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6280" y="1947672"/>
            <a:ext cx="22402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0025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Gastronomía / comercios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1947672"/>
            <a:ext cx="19659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0025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🔥 MUY ALTO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15400" y="1947672"/>
            <a:ext cx="3154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025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2404872"/>
            <a:ext cx="4069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4597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proveedor hielo para restaurante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26280" y="2404872"/>
            <a:ext cx="2240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4597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Restaurantes / bares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0" y="2404872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4597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🔥 MUY ALTO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15400" y="2404872"/>
            <a:ext cx="3154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24597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Search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862072"/>
            <a:ext cx="40690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9169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distribución hielo diaria CABA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2862072"/>
            <a:ext cx="22402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29169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Locales con volumen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2862072"/>
            <a:ext cx="19659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9169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🔥 ALTO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15400" y="2862072"/>
            <a:ext cx="3154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6840" y="29169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3319272"/>
            <a:ext cx="4069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33741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hielo para eventos GBA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26280" y="3319272"/>
            <a:ext cx="2240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33741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Organizadores de eventos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0" y="3319272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49440" y="33741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⚡ ALTO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3319272"/>
            <a:ext cx="3154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06840" y="33741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+ Meta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776472"/>
            <a:ext cx="40690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38313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comodato freezer hielo comercio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26280" y="3776472"/>
            <a:ext cx="22402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617720" y="38313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Almacenes / kioscos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58000" y="3776472"/>
            <a:ext cx="19659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949440" y="38313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⚡ ALTO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915400" y="3776472"/>
            <a:ext cx="3154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06840" y="38313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Search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4233672"/>
            <a:ext cx="40690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2885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agua bidones por mayor GBA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26280" y="4233672"/>
            <a:ext cx="22402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17720" y="42885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Oficinas / comercios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58000" y="4233672"/>
            <a:ext cx="196596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949440" y="42885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⚡ MEDIO-ALTO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15400" y="4233672"/>
            <a:ext cx="31546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06840" y="42885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+ Meta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4690872"/>
            <a:ext cx="40690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745736"/>
            <a:ext cx="3931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hielo costa atlántica temporada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26280" y="4690872"/>
            <a:ext cx="22402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617720" y="4745736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Comercios costeros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58000" y="4690872"/>
            <a:ext cx="19659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949440" y="47457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🌊 ESTACIONAL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915400" y="4690872"/>
            <a:ext cx="315468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06840" y="47457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0000"/>
                </a:solidFill>
                <a:latin typeface="Montserrat"/>
              </a:rPr>
              <a:t>Google + Meta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5760" y="5303520"/>
            <a:ext cx="11457432" cy="6858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376672"/>
            <a:ext cx="110916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2BDFF"/>
                </a:solidFill>
                <a:latin typeface="Montserrat"/>
              </a:rPr>
              <a:t>Ninguno de estos clientes potenciales llega hoy a Hieloli por búsqueda digital. Cada uno que no capturan, lo captura otro. La oportunidad es capturarlo ahora que la competencia digital en el rubro es mínima.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3 SEGMENTOS. 3 FUENTES DE CRECIMIENTO SOSTENIDO.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11155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2BD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161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GASTRONOMÍA Y COMERCIOS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18488"/>
            <a:ext cx="3657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3677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00CC"/>
                </a:solidFill>
                <a:latin typeface="Montserrat"/>
              </a:rPr>
              <a:t>▸  Cliente recurrente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947672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0391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Restaurantes, bares, hoteles, supermercados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946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Pedido semanal o diario → alto LTV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91256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826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El comodato de freezers los fideliza automáticamente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13048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044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Canal: Google Search + campaña local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53128"/>
            <a:ext cx="3657600" cy="59436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" y="450799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💡  1 cliente = 12 meses de facturación continua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0" y="1097280"/>
            <a:ext cx="3657600" cy="50292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11155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300CC"/>
                </a:solidFill>
                <a:latin typeface="Montserrat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1161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EVENTOS Y PRODUCCIÓN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618488"/>
            <a:ext cx="3657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163677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00CC"/>
                </a:solidFill>
                <a:latin typeface="Montserrat"/>
              </a:rPr>
              <a:t>▸  Alto volumen puntual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1947672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20391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Productoras, catering, salones de fiestas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56946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Alta urgencia = alta disposición a pagar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191256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32826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Cobertura GBA y Costa = ventaja diferencial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813048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9044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Canal: Google Search + Meta 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453128"/>
            <a:ext cx="3657600" cy="59436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50799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💡  Un evento puede equivaler a semanas de pedidos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1097280"/>
            <a:ext cx="3657600" cy="50292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111556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300CC"/>
                </a:solidFill>
                <a:latin typeface="Montserrat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11612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300CC"/>
                </a:solidFill>
                <a:latin typeface="Montserrat"/>
              </a:rPr>
              <a:t>DISTRIBUIDORES Y MAYORISTAS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618488"/>
            <a:ext cx="3657600" cy="274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1636776"/>
            <a:ext cx="3383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300CC"/>
                </a:solidFill>
                <a:latin typeface="Montserrat"/>
              </a:rPr>
              <a:t>▸  Volumen masivo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1947672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039112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Distribuidoras de bebidas y alimentos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569464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2660904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Pedidos de alto volumen, contrato estable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191256"/>
            <a:ext cx="3657600" cy="58521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32826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Agua de mesa y jugos como complemento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813048"/>
            <a:ext cx="3657600" cy="5852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3904488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→  Canal: LinkedIn + contacto directo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453128"/>
            <a:ext cx="3657600" cy="5943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4507992"/>
            <a:ext cx="3429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💡  Un distribuidor puede triplicar el volumen mensual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058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EL ACTIVO ESTRATÉGICO MÁS PODEROSO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058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ontserrat"/>
              </a:rPr>
              <a:t>Un modelo de negocio
que la competencia no tiene.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86000"/>
            <a:ext cx="7132320" cy="192024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09728" cy="19202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300CC"/>
                </a:solidFill>
                <a:latin typeface="Montserrat"/>
              </a:rPr>
              <a:t>🧊  COMODATO DE FREEZERS — El diferencial que cambia 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80360"/>
            <a:ext cx="67665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300CC"/>
                </a:solidFill>
                <a:latin typeface="Montserrat"/>
              </a:rPr>
              <a:t>Hieloli instala un freezer en el local del cliente — sin costo.
El cliente recibe su hielo siempre del mismo proveedor.
Es fidelización automática: el freezer de Hieloli vive dentro del negocio del cliente.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70832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12BDFF"/>
                </a:solidFill>
                <a:latin typeface="Montserrat"/>
              </a:rPr>
              <a:t>Este beneficio todavía no está comunicado con la fuerza que merece en digital. Una vez que se active, se convierte en el CTA más poderoso de toda la campaña.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2286000"/>
            <a:ext cx="1508760" cy="292608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55279" y="2286000"/>
            <a:ext cx="1508760" cy="7315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1" y="23957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E67B4"/>
                </a:solidFill>
                <a:latin typeface="Montserrat"/>
              </a:rPr>
              <a:t>365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1" y="28346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Sin cortes, sin excusas.
Confiabilidad que los clientes B2B necesitan.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0" y="2286000"/>
            <a:ext cx="1508760" cy="292608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01200" y="2286000"/>
            <a:ext cx="1508760" cy="7315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65792" y="23957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E67B4"/>
                </a:solidFill>
                <a:latin typeface="Montserrat"/>
              </a:rPr>
              <a:t>Calidad cert.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65792" y="28346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Análisis mensuales.
Perfil ideal para cuentas corporativas exigentes.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2286000"/>
            <a:ext cx="1508760" cy="292608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247120" y="2286000"/>
            <a:ext cx="1508760" cy="7315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11712" y="239572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E67B4"/>
                </a:solidFill>
                <a:latin typeface="Montserrat"/>
              </a:rPr>
              <a:t>Flota propia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11712" y="2834640"/>
            <a:ext cx="1280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Control total de la entrega.
No dependemos de ningún tercero.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CÓMO EL MARKETING DIGITAL AMPLIFICA LO QUE YA TIENEN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No se trata de cambiar el negocio. Se trata de hacerlo visible.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188720"/>
            <a:ext cx="2560320" cy="4572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DESCUBRIMIENTO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25603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Montserrat"/>
              </a:rPr>
              <a:t>Alguien busca
'hielo para mi bar
en CABA'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108960"/>
            <a:ext cx="2560320" cy="100584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Vía: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19856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Google Ads
SEO Local
Instagram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057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300CC"/>
                </a:solidFill>
                <a:latin typeface="Montserrat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188720"/>
            <a:ext cx="2560320" cy="4572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CONEXIÓN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645920"/>
            <a:ext cx="25603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1719072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Montserrat"/>
              </a:rPr>
              <a:t>Llega a la landing
de Hieloli y ve
el comodato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108960"/>
            <a:ext cx="2560320" cy="100584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Vía: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419856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Landing B2B
Testimonios
Garantía calidad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057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300CC"/>
                </a:solidFill>
                <a:latin typeface="Montserrat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88720"/>
            <a:ext cx="2560320" cy="4572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00CC"/>
                </a:solidFill>
                <a:latin typeface="Montserrat"/>
              </a:rPr>
              <a:t>CONTACTO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1645920"/>
            <a:ext cx="25603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719072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Montserrat"/>
              </a:rPr>
              <a:t>Manda WhatsApp
o llena
el formulario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3108960"/>
            <a:ext cx="2560320" cy="100584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300CC"/>
                </a:solidFill>
                <a:latin typeface="Montserrat"/>
              </a:rPr>
              <a:t>Vía: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19856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300CC"/>
                </a:solidFill>
                <a:latin typeface="Montserrat"/>
              </a:rPr>
              <a:t>WhatsApp
Formulario
Llamada directa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3960" y="205740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300CC"/>
                </a:solidFill>
                <a:latin typeface="Montserrat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1188720"/>
            <a:ext cx="2560320" cy="457200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0" y="12618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Montserrat"/>
              </a:rPr>
              <a:t>CLIENTE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52560" y="1645920"/>
            <a:ext cx="2560320" cy="1417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1719072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Montserrat"/>
              </a:rPr>
              <a:t>Recibe su freezer
y empieza a pedir
cada semana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3108960"/>
            <a:ext cx="2560320" cy="1005840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3182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ontserrat"/>
              </a:rPr>
              <a:t>Vía: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3419856"/>
            <a:ext cx="2286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Montserrat"/>
              </a:rPr>
              <a:t>Relación
continua
365 días/año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4224528"/>
            <a:ext cx="11365992" cy="64008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315968"/>
            <a:ext cx="110002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2BDFF"/>
                </a:solidFill>
                <a:latin typeface="Montserrat"/>
              </a:rPr>
              <a:t>El resultado: clientes nuevos llegan solos. El equipo de ventas cierra con leads ya calificados. La operación crece sin cambiar lo que ya funciona.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83480"/>
            <a:ext cx="11365992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4983480"/>
            <a:ext cx="91440" cy="71323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074920"/>
            <a:ext cx="110002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3300CC"/>
                </a:solidFill>
                <a:latin typeface="Montserrat"/>
              </a:rPr>
              <a:t>BONUS — Retargeting:  los que visitan el sitio y no contactan reciben anuncios recordatorios en Instagram y Google. Nadie se pierde para siempre.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PLAN DE 90 DÍAS — UN PASO A LA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Sin interrumpir la operación. Sin riesgos. Con resultados medibles desde el día 1.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15568"/>
            <a:ext cx="3657600" cy="5029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MES 1 — LOS CIMIENTOS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66420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72821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Instalar medición digital (GA4 + Meta Pixel)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16712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23113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Optimizar presencia en Google Maps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7004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3405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Destacar el comodato en la web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7296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369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Recolectar testimonios de clientes actuales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7588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7398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Crear landing dedicada para gastronomía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224528"/>
            <a:ext cx="3657600" cy="640080"/>
          </a:xfrm>
          <a:prstGeom prst="rect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224528"/>
            <a:ext cx="73152" cy="64008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00CC"/>
                </a:solidFill>
                <a:latin typeface="Montserrat"/>
              </a:rPr>
              <a:t>Por primera vez, datos reales de cuánta gente busca lo que ofrecen.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1115568"/>
            <a:ext cx="3657600" cy="50292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1161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MES 2 — LA ACTIVACIÓN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66420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172821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Lanzar campaña Google Search B2B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216712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1688" y="223113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Lanzar campaña Meta Ads (verano / eventos)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7004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73405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Retargeting: recuperar visitas que no contactaron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0" y="317296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1688" y="32369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Publicaciones regulares en Instagram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0" y="367588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61688" y="37398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Primeros reportes semanales de leads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224528"/>
            <a:ext cx="3657600" cy="640080"/>
          </a:xfrm>
          <a:prstGeom prst="rect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51960" y="4224528"/>
            <a:ext cx="73152" cy="64008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29768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00CC"/>
                </a:solidFill>
                <a:latin typeface="Montserrat"/>
              </a:rPr>
              <a:t>Primeros leads calificados entrando por canales digitales.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1115568"/>
            <a:ext cx="3657600" cy="50292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1161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3300CC"/>
                </a:solidFill>
                <a:latin typeface="Montserrat"/>
              </a:rPr>
              <a:t>MES 3 — LA ESCALA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66420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47888" y="172821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Optimizar campañas con datos reales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216712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223113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Campaña especial Costa Atlántica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38160" y="267004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47888" y="273405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Landing para distribuidores / mayoristas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3172968"/>
            <a:ext cx="3657600" cy="4663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323697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Automatizar seguimiento de leads por WhatsApp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38160" y="3675888"/>
            <a:ext cx="3657600" cy="46634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47888" y="3739896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Montserrat"/>
              </a:rPr>
              <a:t>✓  Reporte ejecutivo con proyección anual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38160" y="4224528"/>
            <a:ext cx="3657600" cy="640080"/>
          </a:xfrm>
          <a:prstGeom prst="rect">
            <a:avLst/>
          </a:prstGeom>
          <a:solidFill>
            <a:srgbClr val="EE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38160" y="4224528"/>
            <a:ext cx="73152" cy="64008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429768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3300CC"/>
                </a:solidFill>
                <a:latin typeface="Montserrat"/>
              </a:rPr>
              <a:t>Sistema funcionando. Crecimiento medible mes a mes.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INVERSIÓN Y RETORNO ESTIMADO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Montserrat"/>
              </a:rPr>
              <a:t>¿Cuánto se invierte?
¿Cuánto puede rendir?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12848"/>
            <a:ext cx="5303520" cy="43891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9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300CC"/>
                </a:solidFill>
                <a:latin typeface="Montserrat"/>
              </a:rPr>
              <a:t>ESTRUCTURA DE INVERSIÓN MENSUAL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724912"/>
            <a:ext cx="5303520" cy="53035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Setup Tracking Completo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26664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Montserrat"/>
              </a:rPr>
              <a:t>GA4 + GTM + Meta Pixel + Conversiones Google 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743200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1">
                <a:solidFill>
                  <a:srgbClr val="A0A0A0"/>
                </a:solidFill>
                <a:latin typeface="Montserrat"/>
              </a:rPr>
              <a:t>$350 USD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834640"/>
            <a:ext cx="1920240" cy="152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30752" y="2999232"/>
            <a:ext cx="1956816" cy="21031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300837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300CC"/>
                </a:solidFill>
                <a:latin typeface="Montserrat"/>
              </a:rPr>
              <a:t>✓  BONIFICADO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5303520" cy="53035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5584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Diseño Web Completo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2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Montserrat"/>
              </a:rPr>
              <a:t>Rediseño mobile-first bajo manual de marca Hieloli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8328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2BDFF"/>
                </a:solidFill>
                <a:latin typeface="Montserrat"/>
              </a:rPr>
              <a:t>$1.000 USD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58768"/>
            <a:ext cx="5303520" cy="53035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2277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Gestión mensual Boreal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60520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Montserrat"/>
              </a:rPr>
              <a:t>Fee agencia — según plan elegido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9502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2BDFF"/>
                </a:solidFill>
                <a:latin typeface="Montserrat"/>
              </a:rPr>
              <a:t>desde $600 USD/mes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25696"/>
            <a:ext cx="5303520" cy="530352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48970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Montserrat"/>
              </a:rPr>
              <a:t>Pauta publicitaria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727448"/>
            <a:ext cx="2926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A0A0"/>
                </a:solidFill>
                <a:latin typeface="Montserrat"/>
              </a:rPr>
              <a:t>Google Ads + Meta Ads — presupuesto del cliente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51713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2BDFF"/>
                </a:solidFill>
                <a:latin typeface="Montserrat"/>
              </a:rPr>
              <a:t>a definir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212848"/>
            <a:ext cx="5303520" cy="43891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24942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300CC"/>
                </a:solidFill>
                <a:latin typeface="Montserrat"/>
              </a:rPr>
              <a:t>RETORNO PROYECTADO — ESCENARIO CONSERVADOR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724912"/>
            <a:ext cx="5303520" cy="530352"/>
          </a:xfrm>
          <a:prstGeom prst="rect">
            <a:avLst/>
          </a:prstGeom>
          <a:solidFill>
            <a:srgbClr val="0E9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279806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Nuevos clientes B2B por 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79806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300CC"/>
                </a:solidFill>
                <a:latin typeface="Montserrat"/>
              </a:rPr>
              <a:t>5 a 10 cuentas gastronomía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91840"/>
            <a:ext cx="5303520" cy="530352"/>
          </a:xfrm>
          <a:prstGeom prst="rect">
            <a:avLst/>
          </a:prstGeom>
          <a:solidFill>
            <a:srgbClr val="0A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364992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Ticket mensual promedio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336499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300CC"/>
                </a:solidFill>
                <a:latin typeface="Montserrat"/>
              </a:rPr>
              <a:t>$80.000 – $150.000 ARS por cuenta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858768"/>
            <a:ext cx="5303520" cy="530352"/>
          </a:xfrm>
          <a:prstGeom prst="rect">
            <a:avLst/>
          </a:prstGeom>
          <a:solidFill>
            <a:srgbClr val="0E99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931920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Facturación adicional (mes 3)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09760" y="39319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300CC"/>
                </a:solidFill>
                <a:latin typeface="Montserrat"/>
              </a:rPr>
              <a:t>$400.000 – $1.5M ARS / 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425696"/>
            <a:ext cx="5303520" cy="530352"/>
          </a:xfrm>
          <a:prstGeom prst="rect">
            <a:avLst/>
          </a:prstGeom>
          <a:solidFill>
            <a:srgbClr val="0A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498848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LTV por cliente (12 meses)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49884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3300CC"/>
                </a:solidFill>
                <a:latin typeface="Montserrat"/>
              </a:rPr>
              <a:t>$960.000 – $1.8M ARS por cliente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992624"/>
            <a:ext cx="5303520" cy="53035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084064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00CC"/>
                </a:solidFill>
                <a:latin typeface="Montserrat"/>
              </a:rPr>
              <a:t>BREAK-EVEN ESTIMADO:   MES 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7150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A0A0"/>
                </a:solidFill>
                <a:latin typeface="Montserrat"/>
              </a:rPr>
              <a:t>* Proyección basada en benchmarks del vertical (distribución B2B alimentos, Argentina). Los valores exactos se definen según presupuesto acordado.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EL MOMENTO ES AHORA — LA VENTANA ESTÁ ABIERTA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70432"/>
            <a:ext cx="502920" cy="135331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53619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26187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00CC"/>
                </a:solidFill>
                <a:latin typeface="Montserrat"/>
              </a:rPr>
              <a:t>La competencia digital en el rubro es casi inexistente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00784"/>
            <a:ext cx="10698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Montserrat"/>
              </a:rPr>
              <a:t>Ningún fabricante de hielo en Argentina tiene una presencia digital bien construida. El que llega primero con campañas + landing + contenido, posiciona su marca como referente del sector. Esta ventaja no va a estar disponible para siempre.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79192"/>
            <a:ext cx="502920" cy="135331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04495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7063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00CC"/>
                </a:solidFill>
                <a:latin typeface="Montserrat"/>
              </a:rPr>
              <a:t>Cada año que pasa sin presencia digital es demanda que se pierde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209544"/>
            <a:ext cx="10698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Montserrat"/>
              </a:rPr>
              <a:t>Hoy hay personas y empresas buscando exactamente lo que Hieloli ofrece. Sin campañas ni visibilidad digital, esa demanda va a otro proveedor, que probablemente no tiene ni la calidad ni la infraestructura de Hieloli.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187952"/>
            <a:ext cx="502920" cy="1353312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553712"/>
            <a:ext cx="502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300CC"/>
                </a:solidFill>
                <a:latin typeface="Montserra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79392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300CC"/>
                </a:solidFill>
                <a:latin typeface="Montserrat"/>
              </a:rPr>
              <a:t>El LTV del cliente B2B hace que cada nuevo cliente valga mucho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18304"/>
            <a:ext cx="10698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Montserrat"/>
              </a:rPr>
              <a:t>Un restaurante que empieza a pedir hielo cada semana puede representar entre $960.000 y $1.8M ARS anuales en facturación. Conseguir 5 clientes así en el primer trimestre ya justifica toda la inversión del año.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715000"/>
            <a:ext cx="11274552" cy="254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8064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3300CC"/>
                </a:solidFill>
                <a:latin typeface="Montserrat"/>
              </a:rPr>
              <a:t>"Décadas construyendo una empresa sólida. El próximo paso es que todo el mercado lo sepa."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LO QUE INCLUYE TRABAJAR CON BOREAL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8229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Un equipo completo,
sin estructuras internas.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212848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12848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304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🔧  Setup y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24912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GA4, GTM, Meta Pixel, WhatsApp Business, schema markup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212848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2212848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2304288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🎯  Paid Media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2724912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Google Ads + Meta Ads: campañas, audiencias, puja, optimización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19856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19856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511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🖥️  Web y landings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31920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Landings B2B optimizadas para conversión con identidad Hieloli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3419856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3419856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511296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📊  Reportes mensuales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931920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Dashboard ejecutivo: leads, CPL, ROAS, proyecciones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26864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626864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7183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📱  Redes y contenido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138928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Calendario editorial Instagram/Facebook + gestión de comunidad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626864"/>
            <a:ext cx="5577840" cy="107899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626864"/>
            <a:ext cx="91440" cy="1078992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718304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E67B4"/>
                </a:solidFill>
                <a:latin typeface="Montserrat"/>
              </a:rPr>
              <a:t>🤝  Estrategia continua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5138928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ontserrat"/>
              </a:rPr>
              <a:t>Reunión mensual + plan trimestral + acceso directo al equipo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99832" y="0"/>
            <a:ext cx="4389120" cy="301752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14232" y="3017520"/>
            <a:ext cx="3474720" cy="384048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94392" y="1371600"/>
            <a:ext cx="2194560" cy="22860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5603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MODELO DE TRABAJO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8368"/>
            <a:ext cx="7315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Trabajamos con
tu CM, no en su lugar.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86000"/>
            <a:ext cx="5120640" cy="38404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313432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00CC"/>
                </a:solidFill>
                <a:latin typeface="Montserrat"/>
              </a:rPr>
              <a:t>BOREAL  diseña y estrategiza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120640" cy="42062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8163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Estrategia mensual de contenido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120640" cy="420624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2735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Brief detallado por pieza (formato, copy, timing)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57600"/>
            <a:ext cx="5120640" cy="42062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307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Agenda de publicaciones con objetivos claros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14800"/>
            <a:ext cx="5120640" cy="420624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1148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41879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Diseño de piezas gráficas y templates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572000"/>
            <a:ext cx="5120640" cy="420624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5720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6451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Análisis de métricas y ajuste de rumbo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5120640" cy="420624"/>
          </a:xfrm>
          <a:prstGeom prst="rect">
            <a:avLst/>
          </a:prstGeom>
          <a:solidFill>
            <a:srgbClr val="2A00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29200"/>
            <a:ext cx="64008" cy="420624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1023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→  Reunión mensual de agenda con el CM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286000"/>
            <a:ext cx="5120640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2313432"/>
            <a:ext cx="4919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300CC"/>
                </a:solidFill>
                <a:latin typeface="Montserrat"/>
              </a:rPr>
              <a:t>Tu CM  ejecuta y publica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743200"/>
            <a:ext cx="5120640" cy="420624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0" y="27432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28163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Sube los posts según el brief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200400"/>
            <a:ext cx="5120640" cy="420624"/>
          </a:xfrm>
          <a:prstGeom prst="rect">
            <a:avLst/>
          </a:prstGeom>
          <a:solidFill>
            <a:srgbClr val="BB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0" y="32004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08192" y="32735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Filma el contenido indicado en la agenda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657600"/>
            <a:ext cx="5120640" cy="420624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943600" y="36576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37307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Interactúa con la comunidad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114800"/>
            <a:ext cx="5120640" cy="420624"/>
          </a:xfrm>
          <a:prstGeom prst="rect">
            <a:avLst/>
          </a:prstGeom>
          <a:solidFill>
            <a:srgbClr val="BB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43600" y="41148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08192" y="41879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Responde mensajes directos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572000"/>
            <a:ext cx="5120640" cy="420624"/>
          </a:xfrm>
          <a:prstGeom prst="rect">
            <a:avLst/>
          </a:prstGeom>
          <a:solidFill>
            <a:srgbClr val="CC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43600" y="45720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08192" y="46451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Reporta novedades y feedback del campo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0" y="5029200"/>
            <a:ext cx="5120640" cy="420624"/>
          </a:xfrm>
          <a:prstGeom prst="rect">
            <a:avLst/>
          </a:prstGeom>
          <a:solidFill>
            <a:srgbClr val="BB3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943600" y="5029200"/>
            <a:ext cx="64008" cy="420624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08192" y="510235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Montserrat"/>
              </a:rPr>
              <a:t>✓  Participa de la reunión mensual de agenda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PLANES BOREAL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Fee mensual en USD · Todo incluido · Pauta publicitaria aparte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3657600" cy="38404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" y="10972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3300CC"/>
                </a:solidFill>
                <a:latin typeface="Montserrat"/>
              </a:rPr>
              <a:t>STARTER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463040"/>
            <a:ext cx="3657600" cy="530352"/>
          </a:xfrm>
          <a:prstGeom prst="rect">
            <a:avLst/>
          </a:prstGeom>
          <a:solidFill>
            <a:srgbClr val="0A9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517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$600 USD/mes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205740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205740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211226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11226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Estrategia mensual de contenido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41858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" y="241858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4734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247345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Briefs para el CM (formato + copy + timing)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77977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7472" y="2779776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8346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283464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Diseño de piezas gráficas (12 posts/mes)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14096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140964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1958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319582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Templates adaptados por red social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350215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7472" y="3502152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355701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" y="355701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Google Maps / Business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86334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" y="386334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9182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39182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Unificación de marca en plataformas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" y="422452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422452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42793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42793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(hasta 3hs/mes)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458571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7472" y="4585716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6405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46405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Reporte mensual básico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7472" y="494690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" y="4946904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0017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50017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Reuniones mensuales con CM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530809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47472" y="5308092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53629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6656" y="53629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Google Ads + Meta Ads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566928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" y="5669280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57241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" y="57241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LinkedIn B2B activo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603046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7472" y="6030468"/>
            <a:ext cx="45720" cy="3383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60853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6656" y="60853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SEO técnico mensual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0" y="1078992"/>
            <a:ext cx="3657600" cy="38404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97680" y="10972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PRO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0" y="1463040"/>
            <a:ext cx="3657600" cy="530352"/>
          </a:xfrm>
          <a:prstGeom prst="rect">
            <a:avLst/>
          </a:prstGeom>
          <a:solidFill>
            <a:srgbClr val="44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97680" y="1517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$1.000 USD/mes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0" y="205740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251960" y="205740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343400" y="211226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81144" y="211226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Todo lo de Starter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0" y="241858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51960" y="241858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24734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81144" y="247345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Reuniones mensuales de agenda con CM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0" y="277977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51960" y="2779776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43400" y="28346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81144" y="283464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Google Ads (Search B2B + Display)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51960" y="314096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251960" y="3140964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343400" y="31958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81144" y="319582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Meta Ads (Facebook + Instagram)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0" y="350215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251960" y="3502152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43400" y="355701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81144" y="355701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LinkedIn B2B activo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251960" y="386334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251960" y="386334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43400" y="39182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81144" y="39182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SEO técnico mensual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251960" y="422452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251960" y="422452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343400" y="42793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81144" y="42793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Estrategia estacional (costa, eventos)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51960" y="458571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251960" y="4585716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43400" y="46405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81144" y="46405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Gestión de reputación y reseñas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51960" y="494690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51960" y="4946904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43400" y="50017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81144" y="50017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Reporte ejecutivo mensual con KPIs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51960" y="530809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251960" y="5308092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343400" y="53629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581144" y="53629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(hasta 6hs/mes)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51960" y="566928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51960" y="5669280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343400" y="57241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81144" y="57241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Email marketing B2B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251960" y="603046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251960" y="6030468"/>
            <a:ext cx="45720" cy="3383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43400" y="60853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A0"/>
                </a:solidFill>
                <a:latin typeface="Montserrat"/>
              </a:rPr>
              <a:t>—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81144" y="60853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0A0A0"/>
                </a:solidFill>
                <a:latin typeface="Montserrat"/>
              </a:rPr>
              <a:t>Dashboard en tiempo real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56448" y="1078992"/>
            <a:ext cx="3657600" cy="38404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202168" y="109728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FULL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156448" y="1463040"/>
            <a:ext cx="3657600" cy="530352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202168" y="1517904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$1.600 USD/mes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156448" y="205740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156448" y="205740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247888" y="211226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485632" y="211226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Todo lo de Pro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156448" y="241858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156448" y="241858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247888" y="247345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85632" y="247345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Email marketing B2B + automatizaciones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56448" y="2779776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156448" y="2779776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247888" y="283464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485632" y="283464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Dashboard en tiempo real (Looker)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156448" y="3140964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156448" y="3140964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247888" y="319582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485632" y="319582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Blog B2B (2 artículos/mes)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156448" y="3502152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8156448" y="3502152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8247888" y="355701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485632" y="355701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Estrategia distribuidores y mayoristas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56448" y="3863340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8156448" y="386334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247888" y="391820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485632" y="391820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Consultoría estratégica quincenal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156448" y="4224528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156448" y="422452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247888" y="427939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485632" y="427939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Actualizaciones web sin límite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156448" y="4585716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156448" y="4585716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247888" y="4640580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485632" y="4640580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Prioridad de soporte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56448" y="4946904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156448" y="4946904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47888" y="5001768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485632" y="5001768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Análisis de competencia mensual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156448" y="5308092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8156448" y="5308092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247888" y="5362956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485632" y="5362956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Segmentación de audiencias avanzada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8156448" y="5669280"/>
            <a:ext cx="3657600" cy="3383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156448" y="5669280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247888" y="5724144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485632" y="5724144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Reunión de dirección mensual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156448" y="6030468"/>
            <a:ext cx="3657600" cy="338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8156448" y="6030468"/>
            <a:ext cx="45720" cy="338328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247888" y="6085332"/>
            <a:ext cx="23774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060"/>
                </a:solidFill>
                <a:latin typeface="Montserrat"/>
              </a:rPr>
              <a:t>✓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485632" y="6085332"/>
            <a:ext cx="3255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Montserrat"/>
              </a:rPr>
              <a:t>Plan trimestral documentado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MÓDULOS OPCIONALES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12BDFF"/>
                </a:solidFill>
                <a:latin typeface="Montserrat"/>
              </a:rPr>
              <a:t>Se activan cuando el negocio lo pide · Se suman al plan base sin compromisos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" y="1078992"/>
            <a:ext cx="5577840" cy="36576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064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🎬  ACTIVACIONES Y PRODUCCIÓN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51790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" y="151790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6093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🌐  Diseño Web Completo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9019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Rediseño mobile-first, B2B lead-gen, bajo manual de marca.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65506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67335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$1.000 con plan
$1.500 sin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195681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único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61518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261518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7066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🎬  Producción Audiovisual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Planta, flota, producto — cámara + drone + edición de estudio.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275234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7706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305409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sesión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371246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371246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🎪  Activaciones en Calle / Eventos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0965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Presencia en ferias gastronómicas, stands en eventos B2B.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84962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8" y="386791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07408" y="415137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evento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480974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4809744"/>
            <a:ext cx="73152" cy="102412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4901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📸  Fotografía Profesional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51937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Producto, instalaciones, flota — material para web y redes.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494690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496519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524865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por sesión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1078992"/>
            <a:ext cx="5577840" cy="36576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1106424"/>
            <a:ext cx="5394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🤖  TECNOLOGÍA E INTEGRACIONES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51790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51790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160934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🔍  Setup Tracking Completo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190195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GA4 + GTM + Meta Pixel + Conversiones Google Ads.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5288" y="15636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A0A0A0"/>
                </a:solidFill>
                <a:latin typeface="Montserrat"/>
              </a:rPr>
              <a:t>$350 USD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305288" y="1645920"/>
            <a:ext cx="1463040" cy="1524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305288" y="1792224"/>
            <a:ext cx="1463040" cy="201168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23576" y="1801368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300CC"/>
                </a:solidFill>
                <a:latin typeface="Montserrat"/>
              </a:rPr>
              <a:t>✓ BONIFICADO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261518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261518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270662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🔗  CRM Integration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29992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Pipeline de leads gastronomía, seguimiento de comodatos.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305288" y="275234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23576" y="277063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23576" y="305409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único + setup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3712464"/>
            <a:ext cx="5577840" cy="10241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63640" y="371246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380390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🤖  Chatbot &amp; Atención 24hs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09651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Pedidos urgentes 24hs — ideal para horarios de madrugada.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305288" y="384962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323576" y="386791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23576" y="415137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mensual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63640" y="480974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63640" y="4809744"/>
            <a:ext cx="73152" cy="102412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46520" y="49011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300CC"/>
                </a:solidFill>
                <a:latin typeface="Montserrat"/>
              </a:rPr>
              <a:t>🧠  Agente Comercial AI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46520" y="519379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A0A0A0"/>
                </a:solidFill>
                <a:latin typeface="Montserrat"/>
              </a:rPr>
              <a:t>Calificación automática de leads B2B, derivación al equipo.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305288" y="4946904"/>
            <a:ext cx="1463040" cy="512064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323576" y="4965192"/>
            <a:ext cx="14264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Cotizar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23576" y="5248656"/>
            <a:ext cx="14264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12BDFF"/>
                </a:solidFill>
                <a:latin typeface="Montserrat"/>
              </a:rPr>
              <a:t>fee mensual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· Boreal Marketing × Hieloli · 2026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85432" y="0"/>
            <a:ext cx="5303520" cy="3429000"/>
          </a:xfrm>
          <a:prstGeom prst="rect">
            <a:avLst/>
          </a:prstGeom>
          <a:solidFill>
            <a:srgbClr val="FE6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99832" y="3429000"/>
            <a:ext cx="4389120" cy="3429000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2872" y="1097280"/>
            <a:ext cx="2926080" cy="2743200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Montserrat"/>
              </a:rPr>
              <a:t>Lo construiste.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7772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E67B4"/>
                </a:solidFill>
                <a:latin typeface="Montserrat"/>
              </a:rPr>
              <a:t>Ahora hagámoslo crecer.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FFFF"/>
                </a:solidFill>
                <a:latin typeface="Montserrat"/>
              </a:rPr>
              <a:t>El siguiente paso es una conversación de 30 minutos
para definir el plan y el presupuesto.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6217920" cy="47548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3749039"/>
            <a:ext cx="73152" cy="47548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22191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BDFF"/>
                </a:solidFill>
                <a:latin typeface="Montserrat"/>
              </a:rPr>
              <a:t>Javier Bertucci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858767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Montserrat"/>
              </a:rPr>
              <a:t>CEO — Boreal Marketing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15967"/>
            <a:ext cx="6217920" cy="47548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315967"/>
            <a:ext cx="73152" cy="47548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389119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BDFF"/>
                </a:solidFill>
                <a:latin typeface="Montserrat"/>
              </a:rPr>
              <a:t>+54 9 11 3104-0042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425695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Montserrat"/>
              </a:rPr>
              <a:t>WhatsApp directo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882895"/>
            <a:ext cx="6217920" cy="47548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82895"/>
            <a:ext cx="73152" cy="47548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56047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BDFF"/>
                </a:solidFill>
                <a:latin typeface="Montserrat"/>
              </a:rPr>
              <a:t>jbertucci@boreal.com.ar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499262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Montserrat"/>
              </a:rPr>
              <a:t>Email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49823"/>
            <a:ext cx="6217920" cy="475488"/>
          </a:xfrm>
          <a:prstGeom prst="rect">
            <a:avLst/>
          </a:prstGeom>
          <a:solidFill>
            <a:srgbClr val="22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449823"/>
            <a:ext cx="73152" cy="475488"/>
          </a:xfrm>
          <a:prstGeom prst="rect">
            <a:avLst/>
          </a:prstGeom>
          <a:solidFill>
            <a:srgbClr val="12B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522975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555955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FFFFFF"/>
                </a:solidFill>
                <a:latin typeface="Montserrat"/>
              </a:rPr>
              <a:t>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8932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BOREAL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008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2BDFF"/>
                </a:solidFill>
                <a:latin typeface="Montserrat"/>
              </a:rPr>
              <a:t>MARKETING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33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Montserrat"/>
              </a:rPr>
              <a:t>Confidencial — Preparado exclusivamente para Hieloli · Boreal Marketing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60152" y="6537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12BDFF"/>
                </a:solidFill>
                <a:latin typeface="Montserrat"/>
              </a:rPr>
              <a:t>boreal.com.ar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